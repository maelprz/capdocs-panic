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</p:sldIdLst>
  <p:sldSz cx="18288000" cy="10287000"/>
  <p:notesSz cx="6858000" cy="9144000"/>
  <p:embeddedFontLst>
    <p:embeddedFont>
      <p:font typeface="Calibri (MS)" panose="020B0604020202020204" charset="0"/>
      <p:regular r:id="rId7"/>
    </p:embeddedFont>
    <p:embeddedFont>
      <p:font typeface="Calibri (MS) Bold" panose="020B0604020202020204" charset="0"/>
      <p:regular r:id="rId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2697" y="-12697"/>
            <a:ext cx="665483" cy="10312403"/>
            <a:chOff x="0" y="0"/>
            <a:chExt cx="887311" cy="1374987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7349" cy="13749910"/>
            </a:xfrm>
            <a:custGeom>
              <a:avLst/>
              <a:gdLst/>
              <a:ahLst/>
              <a:cxnLst/>
              <a:rect l="l" t="t" r="r" b="b"/>
              <a:pathLst>
                <a:path w="887349" h="13749910">
                  <a:moveTo>
                    <a:pt x="0" y="0"/>
                  </a:moveTo>
                  <a:lnTo>
                    <a:pt x="887349" y="0"/>
                  </a:lnTo>
                  <a:lnTo>
                    <a:pt x="887349" y="13749910"/>
                  </a:lnTo>
                  <a:lnTo>
                    <a:pt x="0" y="13749910"/>
                  </a:lnTo>
                  <a:close/>
                </a:path>
              </a:pathLst>
            </a:custGeom>
            <a:solidFill>
              <a:srgbClr val="4A90B9"/>
            </a:solidFill>
            <a:ln w="25400" cap="sq">
              <a:solidFill>
                <a:srgbClr val="2563EB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1188720" y="2691433"/>
            <a:ext cx="10972800" cy="2194560"/>
            <a:chOff x="0" y="0"/>
            <a:chExt cx="14630400" cy="292608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2926080"/>
            </a:xfrm>
            <a:custGeom>
              <a:avLst/>
              <a:gdLst/>
              <a:ahLst/>
              <a:cxnLst/>
              <a:rect l="l" t="t" r="r" b="b"/>
              <a:pathLst>
                <a:path w="14630400" h="2926080">
                  <a:moveTo>
                    <a:pt x="0" y="0"/>
                  </a:moveTo>
                  <a:lnTo>
                    <a:pt x="14630400" y="0"/>
                  </a:lnTo>
                  <a:lnTo>
                    <a:pt x="14630400" y="2926080"/>
                  </a:lnTo>
                  <a:lnTo>
                    <a:pt x="0" y="2926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7425" b="-47425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219075"/>
              <a:ext cx="14630400" cy="314515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960"/>
                </a:lnSpc>
              </a:pPr>
              <a:r>
                <a:rPr lang="en-US" sz="10800" b="1">
                  <a:solidFill>
                    <a:srgbClr val="1A1A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Cont/x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176023" y="4981763"/>
            <a:ext cx="9417033" cy="1828800"/>
            <a:chOff x="0" y="0"/>
            <a:chExt cx="12556044" cy="2438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556044" cy="2438400"/>
            </a:xfrm>
            <a:custGeom>
              <a:avLst/>
              <a:gdLst/>
              <a:ahLst/>
              <a:cxnLst/>
              <a:rect l="l" t="t" r="r" b="b"/>
              <a:pathLst>
                <a:path w="12556044" h="2438400">
                  <a:moveTo>
                    <a:pt x="0" y="0"/>
                  </a:moveTo>
                  <a:lnTo>
                    <a:pt x="12556044" y="0"/>
                  </a:lnTo>
                  <a:lnTo>
                    <a:pt x="12556044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137" r="-45650" b="-96137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66675"/>
              <a:ext cx="12556044" cy="25050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Low-Level Keyboard-Hook Lockdown and On-Device Compiler-Based Assessment Engine for Secure Programming Exams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88720" y="7914850"/>
            <a:ext cx="10083803" cy="1488443"/>
            <a:chOff x="0" y="0"/>
            <a:chExt cx="13445071" cy="198459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445110" cy="1984629"/>
            </a:xfrm>
            <a:custGeom>
              <a:avLst/>
              <a:gdLst/>
              <a:ahLst/>
              <a:cxnLst/>
              <a:rect l="l" t="t" r="r" b="b"/>
              <a:pathLst>
                <a:path w="13445110" h="1984629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3246608" y="0"/>
                  </a:lnTo>
                  <a:cubicBezTo>
                    <a:pt x="13356210" y="0"/>
                    <a:pt x="13445110" y="88900"/>
                    <a:pt x="13445110" y="198501"/>
                  </a:cubicBezTo>
                  <a:lnTo>
                    <a:pt x="13445110" y="1786128"/>
                  </a:lnTo>
                  <a:cubicBezTo>
                    <a:pt x="13445110" y="1895729"/>
                    <a:pt x="13356210" y="1984629"/>
                    <a:pt x="13246608" y="1984629"/>
                  </a:cubicBezTo>
                  <a:lnTo>
                    <a:pt x="198501" y="1984629"/>
                  </a:lnTo>
                  <a:cubicBezTo>
                    <a:pt x="88900" y="1984629"/>
                    <a:pt x="0" y="1895729"/>
                    <a:pt x="0" y="1786128"/>
                  </a:cubicBezTo>
                  <a:close/>
                </a:path>
              </a:pathLst>
            </a:custGeom>
            <a:solidFill>
              <a:srgbClr val="F8F9FA"/>
            </a:solidFill>
            <a:ln w="25400" cap="sq">
              <a:solidFill>
                <a:srgbClr val="E5E7EB"/>
              </a:solidFill>
              <a:prstDash val="solid"/>
              <a:miter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1201417" y="7927547"/>
            <a:ext cx="10058400" cy="1463040"/>
            <a:chOff x="0" y="0"/>
            <a:chExt cx="13411200" cy="19507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411200" cy="1950720"/>
            </a:xfrm>
            <a:custGeom>
              <a:avLst/>
              <a:gdLst/>
              <a:ahLst/>
              <a:cxnLst/>
              <a:rect l="l" t="t" r="r" b="b"/>
              <a:pathLst>
                <a:path w="13411200" h="1950720">
                  <a:moveTo>
                    <a:pt x="0" y="0"/>
                  </a:moveTo>
                  <a:lnTo>
                    <a:pt x="13411200" y="0"/>
                  </a:lnTo>
                  <a:lnTo>
                    <a:pt x="134112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3959" b="-83959"/>
              </a:stretch>
            </a:blipFill>
          </p:spPr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13411200" cy="19983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Aratia, Brian Joseph B.  •  Avelino, Robert Emmanuel C.  •  Perez, Mel Stephen A.</a:t>
              </a:r>
            </a:p>
          </p:txBody>
        </p:sp>
      </p:grpSp>
      <p:sp>
        <p:nvSpPr>
          <p:cNvPr id="15" name="Freeform 15"/>
          <p:cNvSpPr/>
          <p:nvPr/>
        </p:nvSpPr>
        <p:spPr>
          <a:xfrm>
            <a:off x="11433393" y="658072"/>
            <a:ext cx="6480805" cy="7256778"/>
          </a:xfrm>
          <a:custGeom>
            <a:avLst/>
            <a:gdLst/>
            <a:ahLst/>
            <a:cxnLst/>
            <a:rect l="l" t="t" r="r" b="b"/>
            <a:pathLst>
              <a:path w="6480805" h="7256778">
                <a:moveTo>
                  <a:pt x="0" y="0"/>
                </a:moveTo>
                <a:lnTo>
                  <a:pt x="6480806" y="0"/>
                </a:lnTo>
                <a:lnTo>
                  <a:pt x="6480806" y="7256778"/>
                </a:lnTo>
                <a:lnTo>
                  <a:pt x="0" y="72567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48640"/>
            <a:ext cx="16459200" cy="1280160"/>
            <a:chOff x="0" y="0"/>
            <a:chExt cx="21945600" cy="17068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706880"/>
            </a:xfrm>
            <a:custGeom>
              <a:avLst/>
              <a:gdLst/>
              <a:ahLst/>
              <a:cxnLst/>
              <a:rect l="l" t="t" r="r" b="b"/>
              <a:pathLst>
                <a:path w="21945600" h="1706880">
                  <a:moveTo>
                    <a:pt x="0" y="0"/>
                  </a:moveTo>
                  <a:lnTo>
                    <a:pt x="21945600" y="0"/>
                  </a:lnTo>
                  <a:lnTo>
                    <a:pt x="2194560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00521" b="-200521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123825"/>
              <a:ext cx="21945600" cy="18307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680"/>
                </a:lnSpc>
              </a:pPr>
              <a:r>
                <a:rPr lang="en-US" sz="6400" b="1">
                  <a:solidFill>
                    <a:srgbClr val="1A1A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Problem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01703" y="1998983"/>
            <a:ext cx="16484603" cy="98555"/>
            <a:chOff x="0" y="0"/>
            <a:chExt cx="21979471" cy="1314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79510" cy="131445"/>
            </a:xfrm>
            <a:custGeom>
              <a:avLst/>
              <a:gdLst/>
              <a:ahLst/>
              <a:cxnLst/>
              <a:rect l="l" t="t" r="r" b="b"/>
              <a:pathLst>
                <a:path w="21979510" h="131445">
                  <a:moveTo>
                    <a:pt x="0" y="0"/>
                  </a:moveTo>
                  <a:lnTo>
                    <a:pt x="21979510" y="0"/>
                  </a:lnTo>
                  <a:lnTo>
                    <a:pt x="21979510" y="131445"/>
                  </a:lnTo>
                  <a:lnTo>
                    <a:pt x="0" y="131445"/>
                  </a:lnTo>
                  <a:close/>
                </a:path>
              </a:pathLst>
            </a:custGeom>
            <a:solidFill>
              <a:srgbClr val="E5E7EB"/>
            </a:solidFill>
            <a:ln w="25400" cap="sq">
              <a:solidFill>
                <a:srgbClr val="E5E7EB"/>
              </a:solidFill>
              <a:prstDash val="solid"/>
              <a:miter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901703" y="2456183"/>
            <a:ext cx="8072123" cy="2951483"/>
            <a:chOff x="0" y="0"/>
            <a:chExt cx="10762831" cy="393531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762869" cy="3935349"/>
            </a:xfrm>
            <a:custGeom>
              <a:avLst/>
              <a:gdLst/>
              <a:ahLst/>
              <a:cxnLst/>
              <a:rect l="l" t="t" r="r" b="b"/>
              <a:pathLst>
                <a:path w="10762869" h="3935349">
                  <a:moveTo>
                    <a:pt x="0" y="295148"/>
                  </a:moveTo>
                  <a:cubicBezTo>
                    <a:pt x="0" y="132080"/>
                    <a:pt x="132080" y="0"/>
                    <a:pt x="295148" y="0"/>
                  </a:cubicBezTo>
                  <a:lnTo>
                    <a:pt x="10467721" y="0"/>
                  </a:lnTo>
                  <a:cubicBezTo>
                    <a:pt x="10630789" y="0"/>
                    <a:pt x="10762869" y="132080"/>
                    <a:pt x="10762869" y="295148"/>
                  </a:cubicBezTo>
                  <a:lnTo>
                    <a:pt x="10762869" y="3640201"/>
                  </a:lnTo>
                  <a:cubicBezTo>
                    <a:pt x="10762869" y="3803269"/>
                    <a:pt x="10630789" y="3935349"/>
                    <a:pt x="10467721" y="3935349"/>
                  </a:cubicBezTo>
                  <a:lnTo>
                    <a:pt x="295148" y="3935349"/>
                  </a:lnTo>
                  <a:cubicBezTo>
                    <a:pt x="132080" y="3935349"/>
                    <a:pt x="0" y="3803142"/>
                    <a:pt x="0" y="3640201"/>
                  </a:cubicBezTo>
                  <a:close/>
                </a:path>
              </a:pathLst>
            </a:custGeom>
            <a:solidFill>
              <a:srgbClr val="F8F9FA"/>
            </a:solidFill>
            <a:ln w="25400" cap="sq">
              <a:solidFill>
                <a:srgbClr val="E5E7EB"/>
              </a:solidFill>
              <a:prstDash val="solid"/>
              <a:miter/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1291590" y="3213624"/>
            <a:ext cx="822960" cy="822960"/>
            <a:chOff x="0" y="0"/>
            <a:chExt cx="1097280" cy="109728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2286000" y="2990095"/>
            <a:ext cx="6400800" cy="1883659"/>
            <a:chOff x="0" y="0"/>
            <a:chExt cx="8534400" cy="2511546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8534400" cy="926592"/>
              <a:chOff x="0" y="0"/>
              <a:chExt cx="8534400" cy="926592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534400" cy="926592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26592">
                    <a:moveTo>
                      <a:pt x="0" y="0"/>
                    </a:moveTo>
                    <a:lnTo>
                      <a:pt x="8534400" y="0"/>
                    </a:lnTo>
                    <a:lnTo>
                      <a:pt x="8534400" y="926592"/>
                    </a:lnTo>
                    <a:lnTo>
                      <a:pt x="0" y="92659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29467" b="-129467"/>
                </a:stretch>
              </a:blip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57150"/>
                <a:ext cx="8534400" cy="98374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120"/>
                  </a:lnSpc>
                </a:pPr>
                <a:r>
                  <a:rPr lang="en-US" sz="2600" b="1">
                    <a:solidFill>
                      <a:srgbClr val="1A1A2E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No Desktop Lockdown</a:t>
                </a:r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0" y="438906"/>
              <a:ext cx="8534400" cy="2072640"/>
              <a:chOff x="0" y="0"/>
              <a:chExt cx="8534400" cy="207264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534400" cy="2072640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2072640">
                    <a:moveTo>
                      <a:pt x="0" y="0"/>
                    </a:moveTo>
                    <a:lnTo>
                      <a:pt x="8534400" y="0"/>
                    </a:lnTo>
                    <a:lnTo>
                      <a:pt x="8534400" y="2072640"/>
                    </a:lnTo>
                    <a:lnTo>
                      <a:pt x="0" y="207264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232" b="-30232"/>
                </a:stretch>
              </a:blipFill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-47625"/>
                <a:ext cx="8534400" cy="212026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640"/>
                  </a:lnSpc>
                </a:pPr>
                <a:r>
                  <a:rPr lang="en-US" sz="2200">
                    <a:solidFill>
                      <a:srgbClr val="6B728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Cloud tools only restrict browsers — Alt+Tab, Task Manager, and OS-level shortcuts remain open.</a:t>
                </a:r>
              </a:p>
            </p:txBody>
          </p:sp>
        </p:grpSp>
      </p:grpSp>
      <p:grpSp>
        <p:nvGrpSpPr>
          <p:cNvPr id="18" name="Group 18"/>
          <p:cNvGrpSpPr/>
          <p:nvPr/>
        </p:nvGrpSpPr>
        <p:grpSpPr>
          <a:xfrm>
            <a:off x="9588503" y="2456183"/>
            <a:ext cx="8072123" cy="2951483"/>
            <a:chOff x="0" y="0"/>
            <a:chExt cx="10762831" cy="3935311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62869" cy="3935349"/>
            </a:xfrm>
            <a:custGeom>
              <a:avLst/>
              <a:gdLst/>
              <a:ahLst/>
              <a:cxnLst/>
              <a:rect l="l" t="t" r="r" b="b"/>
              <a:pathLst>
                <a:path w="10762869" h="3935349">
                  <a:moveTo>
                    <a:pt x="0" y="295148"/>
                  </a:moveTo>
                  <a:cubicBezTo>
                    <a:pt x="0" y="132080"/>
                    <a:pt x="132080" y="0"/>
                    <a:pt x="295148" y="0"/>
                  </a:cubicBezTo>
                  <a:lnTo>
                    <a:pt x="10467721" y="0"/>
                  </a:lnTo>
                  <a:cubicBezTo>
                    <a:pt x="10630789" y="0"/>
                    <a:pt x="10762869" y="132080"/>
                    <a:pt x="10762869" y="295148"/>
                  </a:cubicBezTo>
                  <a:lnTo>
                    <a:pt x="10762869" y="3640201"/>
                  </a:lnTo>
                  <a:cubicBezTo>
                    <a:pt x="10762869" y="3803269"/>
                    <a:pt x="10630789" y="3935349"/>
                    <a:pt x="10467721" y="3935349"/>
                  </a:cubicBezTo>
                  <a:lnTo>
                    <a:pt x="295148" y="3935349"/>
                  </a:lnTo>
                  <a:cubicBezTo>
                    <a:pt x="132080" y="3935349"/>
                    <a:pt x="0" y="3803142"/>
                    <a:pt x="0" y="3640201"/>
                  </a:cubicBezTo>
                  <a:close/>
                </a:path>
              </a:pathLst>
            </a:custGeom>
            <a:solidFill>
              <a:srgbClr val="F8F9FA"/>
            </a:solidFill>
            <a:ln w="25400" cap="sq">
              <a:solidFill>
                <a:srgbClr val="E5E7EB"/>
              </a:solidFill>
              <a:prstDash val="solid"/>
              <a:miter/>
            </a:ln>
          </p:spPr>
        </p:sp>
      </p:grpSp>
      <p:grpSp>
        <p:nvGrpSpPr>
          <p:cNvPr id="20" name="Group 20"/>
          <p:cNvGrpSpPr/>
          <p:nvPr/>
        </p:nvGrpSpPr>
        <p:grpSpPr>
          <a:xfrm>
            <a:off x="9966960" y="3213624"/>
            <a:ext cx="822960" cy="822960"/>
            <a:chOff x="0" y="0"/>
            <a:chExt cx="1097280" cy="1097280"/>
          </a:xfrm>
        </p:grpSpPr>
        <p:sp>
          <p:nvSpPr>
            <p:cNvPr id="21" name="Freeform 21" descr="preencoded.pn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0960094" y="2860296"/>
            <a:ext cx="6402705" cy="1947672"/>
            <a:chOff x="0" y="0"/>
            <a:chExt cx="8536940" cy="2596896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0"/>
              <a:ext cx="8534400" cy="926592"/>
              <a:chOff x="0" y="0"/>
              <a:chExt cx="8534400" cy="926592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8534400" cy="926592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26592">
                    <a:moveTo>
                      <a:pt x="0" y="0"/>
                    </a:moveTo>
                    <a:lnTo>
                      <a:pt x="8534400" y="0"/>
                    </a:lnTo>
                    <a:lnTo>
                      <a:pt x="8534400" y="926592"/>
                    </a:lnTo>
                    <a:lnTo>
                      <a:pt x="0" y="92659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29467" b="-129467"/>
                </a:stretch>
              </a:blipFill>
            </p:spPr>
          </p:sp>
          <p:sp>
            <p:nvSpPr>
              <p:cNvPr id="25" name="TextBox 25"/>
              <p:cNvSpPr txBox="1"/>
              <p:nvPr/>
            </p:nvSpPr>
            <p:spPr>
              <a:xfrm>
                <a:off x="0" y="-57150"/>
                <a:ext cx="8534400" cy="98374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120"/>
                  </a:lnSpc>
                </a:pPr>
                <a:r>
                  <a:rPr lang="en-US" sz="2600" b="1">
                    <a:solidFill>
                      <a:srgbClr val="1A1A2E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Server-Side Bottlenecks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2540" y="524256"/>
              <a:ext cx="8534400" cy="2072640"/>
              <a:chOff x="0" y="0"/>
              <a:chExt cx="8534400" cy="207264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8534400" cy="2072640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2072640">
                    <a:moveTo>
                      <a:pt x="0" y="0"/>
                    </a:moveTo>
                    <a:lnTo>
                      <a:pt x="8534400" y="0"/>
                    </a:lnTo>
                    <a:lnTo>
                      <a:pt x="8534400" y="2072640"/>
                    </a:lnTo>
                    <a:lnTo>
                      <a:pt x="0" y="207264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232" b="-30232"/>
                </a:stretch>
              </a:blipFill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0" y="-47625"/>
                <a:ext cx="8534400" cy="212026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640"/>
                  </a:lnSpc>
                </a:pPr>
                <a:r>
                  <a:rPr lang="en-US" sz="2200">
                    <a:solidFill>
                      <a:srgbClr val="6B728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Simultaneous submissions to remote grading servers cause delays during time-limited exams.</a:t>
                </a:r>
              </a:p>
            </p:txBody>
          </p:sp>
        </p:grpSp>
      </p:grpSp>
      <p:grpSp>
        <p:nvGrpSpPr>
          <p:cNvPr id="29" name="Group 29"/>
          <p:cNvGrpSpPr/>
          <p:nvPr/>
        </p:nvGrpSpPr>
        <p:grpSpPr>
          <a:xfrm>
            <a:off x="901703" y="5839463"/>
            <a:ext cx="8072123" cy="2951483"/>
            <a:chOff x="0" y="0"/>
            <a:chExt cx="10762831" cy="3935311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0762869" cy="3935349"/>
            </a:xfrm>
            <a:custGeom>
              <a:avLst/>
              <a:gdLst/>
              <a:ahLst/>
              <a:cxnLst/>
              <a:rect l="l" t="t" r="r" b="b"/>
              <a:pathLst>
                <a:path w="10762869" h="3935349">
                  <a:moveTo>
                    <a:pt x="0" y="295148"/>
                  </a:moveTo>
                  <a:cubicBezTo>
                    <a:pt x="0" y="132080"/>
                    <a:pt x="132080" y="0"/>
                    <a:pt x="295148" y="0"/>
                  </a:cubicBezTo>
                  <a:lnTo>
                    <a:pt x="10467721" y="0"/>
                  </a:lnTo>
                  <a:cubicBezTo>
                    <a:pt x="10630789" y="0"/>
                    <a:pt x="10762869" y="132080"/>
                    <a:pt x="10762869" y="295148"/>
                  </a:cubicBezTo>
                  <a:lnTo>
                    <a:pt x="10762869" y="3640201"/>
                  </a:lnTo>
                  <a:cubicBezTo>
                    <a:pt x="10762869" y="3803269"/>
                    <a:pt x="10630789" y="3935349"/>
                    <a:pt x="10467721" y="3935349"/>
                  </a:cubicBezTo>
                  <a:lnTo>
                    <a:pt x="295148" y="3935349"/>
                  </a:lnTo>
                  <a:cubicBezTo>
                    <a:pt x="132080" y="3935349"/>
                    <a:pt x="0" y="3803142"/>
                    <a:pt x="0" y="3640201"/>
                  </a:cubicBezTo>
                  <a:close/>
                </a:path>
              </a:pathLst>
            </a:custGeom>
            <a:solidFill>
              <a:srgbClr val="F8F9FA"/>
            </a:solidFill>
            <a:ln w="25400" cap="sq">
              <a:solidFill>
                <a:srgbClr val="E5E7EB"/>
              </a:solidFill>
              <a:prstDash val="solid"/>
              <a:miter/>
            </a:ln>
          </p:spPr>
        </p:sp>
      </p:grpSp>
      <p:grpSp>
        <p:nvGrpSpPr>
          <p:cNvPr id="31" name="Group 31"/>
          <p:cNvGrpSpPr/>
          <p:nvPr/>
        </p:nvGrpSpPr>
        <p:grpSpPr>
          <a:xfrm>
            <a:off x="1280160" y="6684016"/>
            <a:ext cx="822960" cy="822960"/>
            <a:chOff x="0" y="0"/>
            <a:chExt cx="1097280" cy="1097280"/>
          </a:xfrm>
        </p:grpSpPr>
        <p:sp>
          <p:nvSpPr>
            <p:cNvPr id="32" name="Freeform 32" descr="preencoded.pn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grpSp>
        <p:nvGrpSpPr>
          <p:cNvPr id="33" name="Group 33"/>
          <p:cNvGrpSpPr/>
          <p:nvPr/>
        </p:nvGrpSpPr>
        <p:grpSpPr>
          <a:xfrm>
            <a:off x="2286000" y="6373370"/>
            <a:ext cx="6400800" cy="1883659"/>
            <a:chOff x="0" y="0"/>
            <a:chExt cx="8534400" cy="2511546"/>
          </a:xfrm>
        </p:grpSpPr>
        <p:grpSp>
          <p:nvGrpSpPr>
            <p:cNvPr id="34" name="Group 34"/>
            <p:cNvGrpSpPr/>
            <p:nvPr/>
          </p:nvGrpSpPr>
          <p:grpSpPr>
            <a:xfrm>
              <a:off x="0" y="0"/>
              <a:ext cx="8534400" cy="926592"/>
              <a:chOff x="0" y="0"/>
              <a:chExt cx="8534400" cy="926592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8534400" cy="926592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26592">
                    <a:moveTo>
                      <a:pt x="0" y="0"/>
                    </a:moveTo>
                    <a:lnTo>
                      <a:pt x="8534400" y="0"/>
                    </a:lnTo>
                    <a:lnTo>
                      <a:pt x="8534400" y="926592"/>
                    </a:lnTo>
                    <a:lnTo>
                      <a:pt x="0" y="92659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29467" b="-129467"/>
                </a:stretch>
              </a:blipFill>
            </p:spPr>
          </p:sp>
          <p:sp>
            <p:nvSpPr>
              <p:cNvPr id="36" name="TextBox 36"/>
              <p:cNvSpPr txBox="1"/>
              <p:nvPr/>
            </p:nvSpPr>
            <p:spPr>
              <a:xfrm>
                <a:off x="0" y="-57150"/>
                <a:ext cx="8534400" cy="98374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120"/>
                  </a:lnSpc>
                </a:pPr>
                <a:r>
                  <a:rPr lang="en-US" sz="2600" b="1">
                    <a:solidFill>
                      <a:srgbClr val="1A1A2E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Unreliable Connectivity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0" y="438906"/>
              <a:ext cx="8534400" cy="2072640"/>
              <a:chOff x="0" y="0"/>
              <a:chExt cx="8534400" cy="207264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8534400" cy="2072640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2072640">
                    <a:moveTo>
                      <a:pt x="0" y="0"/>
                    </a:moveTo>
                    <a:lnTo>
                      <a:pt x="8534400" y="0"/>
                    </a:lnTo>
                    <a:lnTo>
                      <a:pt x="8534400" y="2072640"/>
                    </a:lnTo>
                    <a:lnTo>
                      <a:pt x="0" y="207264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232" b="-30232"/>
                </a:stretch>
              </a:blipFill>
            </p:spPr>
          </p:sp>
          <p:sp>
            <p:nvSpPr>
              <p:cNvPr id="39" name="TextBox 39"/>
              <p:cNvSpPr txBox="1"/>
              <p:nvPr/>
            </p:nvSpPr>
            <p:spPr>
              <a:xfrm>
                <a:off x="0" y="-47625"/>
                <a:ext cx="8534400" cy="212026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640"/>
                  </a:lnSpc>
                </a:pPr>
                <a:r>
                  <a:rPr lang="en-US" sz="2200">
                    <a:solidFill>
                      <a:srgbClr val="6B728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Many Philippine schools face unstable internet, making cloud-only platforms risky for live exams.</a:t>
                </a:r>
              </a:p>
            </p:txBody>
          </p:sp>
        </p:grpSp>
      </p:grpSp>
      <p:grpSp>
        <p:nvGrpSpPr>
          <p:cNvPr id="40" name="Group 40"/>
          <p:cNvGrpSpPr/>
          <p:nvPr/>
        </p:nvGrpSpPr>
        <p:grpSpPr>
          <a:xfrm>
            <a:off x="9588503" y="5839463"/>
            <a:ext cx="8072123" cy="2951483"/>
            <a:chOff x="0" y="0"/>
            <a:chExt cx="10762831" cy="3935311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0762869" cy="3935349"/>
            </a:xfrm>
            <a:custGeom>
              <a:avLst/>
              <a:gdLst/>
              <a:ahLst/>
              <a:cxnLst/>
              <a:rect l="l" t="t" r="r" b="b"/>
              <a:pathLst>
                <a:path w="10762869" h="3935349">
                  <a:moveTo>
                    <a:pt x="0" y="295148"/>
                  </a:moveTo>
                  <a:cubicBezTo>
                    <a:pt x="0" y="132080"/>
                    <a:pt x="132080" y="0"/>
                    <a:pt x="295148" y="0"/>
                  </a:cubicBezTo>
                  <a:lnTo>
                    <a:pt x="10467721" y="0"/>
                  </a:lnTo>
                  <a:cubicBezTo>
                    <a:pt x="10630789" y="0"/>
                    <a:pt x="10762869" y="132080"/>
                    <a:pt x="10762869" y="295148"/>
                  </a:cubicBezTo>
                  <a:lnTo>
                    <a:pt x="10762869" y="3640201"/>
                  </a:lnTo>
                  <a:cubicBezTo>
                    <a:pt x="10762869" y="3803269"/>
                    <a:pt x="10630789" y="3935349"/>
                    <a:pt x="10467721" y="3935349"/>
                  </a:cubicBezTo>
                  <a:lnTo>
                    <a:pt x="295148" y="3935349"/>
                  </a:lnTo>
                  <a:cubicBezTo>
                    <a:pt x="132080" y="3935349"/>
                    <a:pt x="0" y="3803142"/>
                    <a:pt x="0" y="3640201"/>
                  </a:cubicBezTo>
                  <a:close/>
                </a:path>
              </a:pathLst>
            </a:custGeom>
            <a:solidFill>
              <a:srgbClr val="F8F9FA"/>
            </a:solidFill>
            <a:ln w="25400" cap="sq">
              <a:solidFill>
                <a:srgbClr val="E5E7EB"/>
              </a:solidFill>
              <a:prstDash val="solid"/>
              <a:miter/>
            </a:ln>
          </p:spPr>
        </p:sp>
      </p:grpSp>
      <p:grpSp>
        <p:nvGrpSpPr>
          <p:cNvPr id="42" name="Group 42"/>
          <p:cNvGrpSpPr/>
          <p:nvPr/>
        </p:nvGrpSpPr>
        <p:grpSpPr>
          <a:xfrm>
            <a:off x="9966960" y="6684016"/>
            <a:ext cx="822960" cy="822960"/>
            <a:chOff x="0" y="0"/>
            <a:chExt cx="1097280" cy="1097280"/>
          </a:xfrm>
        </p:grpSpPr>
        <p:sp>
          <p:nvSpPr>
            <p:cNvPr id="43" name="Freeform 43" descr="preencoded.pn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44" name="Group 44"/>
          <p:cNvGrpSpPr/>
          <p:nvPr/>
        </p:nvGrpSpPr>
        <p:grpSpPr>
          <a:xfrm>
            <a:off x="10960094" y="6373370"/>
            <a:ext cx="6413506" cy="1883659"/>
            <a:chOff x="0" y="0"/>
            <a:chExt cx="8551342" cy="2511546"/>
          </a:xfrm>
        </p:grpSpPr>
        <p:grpSp>
          <p:nvGrpSpPr>
            <p:cNvPr id="45" name="Group 45"/>
            <p:cNvGrpSpPr/>
            <p:nvPr/>
          </p:nvGrpSpPr>
          <p:grpSpPr>
            <a:xfrm>
              <a:off x="16942" y="0"/>
              <a:ext cx="8534400" cy="926592"/>
              <a:chOff x="0" y="0"/>
              <a:chExt cx="8534400" cy="926592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8534400" cy="926592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26592">
                    <a:moveTo>
                      <a:pt x="0" y="0"/>
                    </a:moveTo>
                    <a:lnTo>
                      <a:pt x="8534400" y="0"/>
                    </a:lnTo>
                    <a:lnTo>
                      <a:pt x="8534400" y="926592"/>
                    </a:lnTo>
                    <a:lnTo>
                      <a:pt x="0" y="92659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29467" b="-129467"/>
                </a:stretch>
              </a:blipFill>
            </p:spPr>
          </p:sp>
          <p:sp>
            <p:nvSpPr>
              <p:cNvPr id="47" name="TextBox 47"/>
              <p:cNvSpPr txBox="1"/>
              <p:nvPr/>
            </p:nvSpPr>
            <p:spPr>
              <a:xfrm>
                <a:off x="0" y="-57150"/>
                <a:ext cx="8534400" cy="98374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120"/>
                  </a:lnSpc>
                </a:pPr>
                <a:r>
                  <a:rPr lang="en-US" sz="2600" b="1">
                    <a:solidFill>
                      <a:srgbClr val="1A1A2E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No Unified Platform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0" y="438906"/>
              <a:ext cx="8534400" cy="2072640"/>
              <a:chOff x="0" y="0"/>
              <a:chExt cx="8534400" cy="207264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8534400" cy="2072640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2072640">
                    <a:moveTo>
                      <a:pt x="0" y="0"/>
                    </a:moveTo>
                    <a:lnTo>
                      <a:pt x="8534400" y="0"/>
                    </a:lnTo>
                    <a:lnTo>
                      <a:pt x="8534400" y="2072640"/>
                    </a:lnTo>
                    <a:lnTo>
                      <a:pt x="0" y="207264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232" b="-30232"/>
                </a:stretch>
              </a:blipFill>
            </p:spPr>
          </p:sp>
          <p:sp>
            <p:nvSpPr>
              <p:cNvPr id="50" name="TextBox 50"/>
              <p:cNvSpPr txBox="1"/>
              <p:nvPr/>
            </p:nvSpPr>
            <p:spPr>
              <a:xfrm>
                <a:off x="0" y="-47625"/>
                <a:ext cx="8534400" cy="212026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640"/>
                  </a:lnSpc>
                </a:pPr>
                <a:r>
                  <a:rPr lang="en-US" sz="2200">
                    <a:solidFill>
                      <a:srgbClr val="6B728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No single tool combines system-level security AND automated code assessment together.</a:t>
                </a: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48640"/>
            <a:ext cx="9144000" cy="1280160"/>
            <a:chOff x="0" y="0"/>
            <a:chExt cx="12192000" cy="17068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192000" cy="1706880"/>
            </a:xfrm>
            <a:custGeom>
              <a:avLst/>
              <a:gdLst/>
              <a:ahLst/>
              <a:cxnLst/>
              <a:rect l="l" t="t" r="r" b="b"/>
              <a:pathLst>
                <a:path w="12192000" h="1706880">
                  <a:moveTo>
                    <a:pt x="0" y="0"/>
                  </a:moveTo>
                  <a:lnTo>
                    <a:pt x="12192000" y="0"/>
                  </a:lnTo>
                  <a:lnTo>
                    <a:pt x="1219200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9178" b="-89178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123825"/>
              <a:ext cx="12192000" cy="18307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680"/>
                </a:lnSpc>
              </a:pPr>
              <a:r>
                <a:rPr lang="en-US" sz="6400" b="1">
                  <a:solidFill>
                    <a:srgbClr val="1A1A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Proposed Solution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521440" y="548640"/>
            <a:ext cx="5852160" cy="1287093"/>
            <a:chOff x="0" y="0"/>
            <a:chExt cx="7802880" cy="17161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802880" cy="1716124"/>
            </a:xfrm>
            <a:custGeom>
              <a:avLst/>
              <a:gdLst/>
              <a:ahLst/>
              <a:cxnLst/>
              <a:rect l="l" t="t" r="r" b="b"/>
              <a:pathLst>
                <a:path w="7802880" h="1716124">
                  <a:moveTo>
                    <a:pt x="0" y="0"/>
                  </a:moveTo>
                  <a:lnTo>
                    <a:pt x="7802880" y="0"/>
                  </a:lnTo>
                  <a:lnTo>
                    <a:pt x="7802880" y="1716124"/>
                  </a:lnTo>
                  <a:lnTo>
                    <a:pt x="0" y="17161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8863" b="-38325"/>
              </a:stretch>
            </a:blipFill>
          </p:spPr>
        </p:sp>
        <p:sp>
          <p:nvSpPr>
            <p:cNvPr id="7" name="TextBox 7"/>
            <p:cNvSpPr txBox="1"/>
            <p:nvPr/>
          </p:nvSpPr>
          <p:spPr>
            <a:xfrm>
              <a:off x="0" y="-123825"/>
              <a:ext cx="7802880" cy="183994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7680"/>
                </a:lnSpc>
              </a:pPr>
              <a:r>
                <a:rPr lang="en-US" sz="6400" b="1">
                  <a:solidFill>
                    <a:srgbClr val="2563E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Cont/x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01703" y="1962407"/>
            <a:ext cx="16484603" cy="98555"/>
            <a:chOff x="0" y="0"/>
            <a:chExt cx="21979471" cy="13140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79510" cy="131445"/>
            </a:xfrm>
            <a:custGeom>
              <a:avLst/>
              <a:gdLst/>
              <a:ahLst/>
              <a:cxnLst/>
              <a:rect l="l" t="t" r="r" b="b"/>
              <a:pathLst>
                <a:path w="21979510" h="131445">
                  <a:moveTo>
                    <a:pt x="0" y="0"/>
                  </a:moveTo>
                  <a:lnTo>
                    <a:pt x="21979510" y="0"/>
                  </a:lnTo>
                  <a:lnTo>
                    <a:pt x="21979510" y="131445"/>
                  </a:lnTo>
                  <a:lnTo>
                    <a:pt x="0" y="131445"/>
                  </a:lnTo>
                  <a:close/>
                </a:path>
              </a:pathLst>
            </a:custGeom>
            <a:solidFill>
              <a:srgbClr val="E5E7EB"/>
            </a:solidFill>
            <a:ln w="25400" cap="sq">
              <a:solidFill>
                <a:srgbClr val="E5E7EB"/>
              </a:solidFill>
              <a:prstDash val="solid"/>
              <a:miter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914400" y="2194560"/>
            <a:ext cx="16459200" cy="1371600"/>
            <a:chOff x="0" y="0"/>
            <a:chExt cx="21945600" cy="1828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45600" cy="1828800"/>
            </a:xfrm>
            <a:custGeom>
              <a:avLst/>
              <a:gdLst/>
              <a:ahLst/>
              <a:cxnLst/>
              <a:rect l="l" t="t" r="r" b="b"/>
              <a:pathLst>
                <a:path w="21945600" h="1828800">
                  <a:moveTo>
                    <a:pt x="0" y="0"/>
                  </a:moveTo>
                  <a:lnTo>
                    <a:pt x="21945600" y="0"/>
                  </a:lnTo>
                  <a:lnTo>
                    <a:pt x="2194560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83820" b="-183820"/>
              </a:stretch>
            </a:blipFill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21945600" cy="18859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Desktop and Web Application for Enforcing Academic Integrity through System-Wide Lockdown and On-Device Automated Assessment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01703" y="3827783"/>
            <a:ext cx="5328923" cy="2677163"/>
            <a:chOff x="0" y="0"/>
            <a:chExt cx="7105231" cy="356955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105397" cy="3569716"/>
            </a:xfrm>
            <a:custGeom>
              <a:avLst/>
              <a:gdLst/>
              <a:ahLst/>
              <a:cxnLst/>
              <a:rect l="l" t="t" r="r" b="b"/>
              <a:pathLst>
                <a:path w="7105397" h="3569716">
                  <a:moveTo>
                    <a:pt x="0" y="246253"/>
                  </a:moveTo>
                  <a:cubicBezTo>
                    <a:pt x="0" y="110236"/>
                    <a:pt x="110236" y="0"/>
                    <a:pt x="246253" y="0"/>
                  </a:cubicBezTo>
                  <a:lnTo>
                    <a:pt x="6859143" y="0"/>
                  </a:lnTo>
                  <a:cubicBezTo>
                    <a:pt x="6995160" y="0"/>
                    <a:pt x="7105397" y="110236"/>
                    <a:pt x="7105397" y="246253"/>
                  </a:cubicBezTo>
                  <a:lnTo>
                    <a:pt x="7105397" y="3323463"/>
                  </a:lnTo>
                  <a:cubicBezTo>
                    <a:pt x="7105397" y="3459480"/>
                    <a:pt x="6995160" y="3569716"/>
                    <a:pt x="6859143" y="3569716"/>
                  </a:cubicBezTo>
                  <a:lnTo>
                    <a:pt x="246253" y="3569716"/>
                  </a:lnTo>
                  <a:cubicBezTo>
                    <a:pt x="110236" y="3569589"/>
                    <a:pt x="0" y="3459353"/>
                    <a:pt x="0" y="3323336"/>
                  </a:cubicBezTo>
                  <a:close/>
                </a:path>
              </a:pathLst>
            </a:custGeom>
            <a:solidFill>
              <a:srgbClr val="F8F9FA"/>
            </a:solidFill>
            <a:ln w="25400" cap="sq">
              <a:solidFill>
                <a:srgbClr val="E5E7EB"/>
              </a:solidFill>
              <a:prstDash val="solid"/>
              <a:miter/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1225296" y="4389120"/>
            <a:ext cx="694944" cy="694944"/>
            <a:chOff x="0" y="0"/>
            <a:chExt cx="926592" cy="926592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926592" cy="926592"/>
            </a:xfrm>
            <a:custGeom>
              <a:avLst/>
              <a:gdLst/>
              <a:ahLst/>
              <a:cxnLst/>
              <a:rect l="l" t="t" r="r" b="b"/>
              <a:pathLst>
                <a:path w="926592" h="926592">
                  <a:moveTo>
                    <a:pt x="0" y="0"/>
                  </a:moveTo>
                  <a:lnTo>
                    <a:pt x="926592" y="0"/>
                  </a:lnTo>
                  <a:lnTo>
                    <a:pt x="926592" y="926592"/>
                  </a:lnTo>
                  <a:lnTo>
                    <a:pt x="0" y="926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7" name="Group 17"/>
          <p:cNvGrpSpPr/>
          <p:nvPr/>
        </p:nvGrpSpPr>
        <p:grpSpPr>
          <a:xfrm>
            <a:off x="2103120" y="4059936"/>
            <a:ext cx="3840480" cy="694944"/>
            <a:chOff x="0" y="0"/>
            <a:chExt cx="5120640" cy="92659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120640" cy="926592"/>
            </a:xfrm>
            <a:custGeom>
              <a:avLst/>
              <a:gdLst/>
              <a:ahLst/>
              <a:cxnLst/>
              <a:rect l="l" t="t" r="r" b="b"/>
              <a:pathLst>
                <a:path w="5120640" h="926592">
                  <a:moveTo>
                    <a:pt x="0" y="0"/>
                  </a:moveTo>
                  <a:lnTo>
                    <a:pt x="5120640" y="0"/>
                  </a:lnTo>
                  <a:lnTo>
                    <a:pt x="51206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7680" b="-57680"/>
              </a:stretch>
            </a:blipFill>
          </p:spPr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5120640" cy="9742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1A1A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System-Wide Lockdown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103120" y="4791456"/>
            <a:ext cx="3840480" cy="1463040"/>
            <a:chOff x="0" y="0"/>
            <a:chExt cx="5120640" cy="19507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120640" cy="1950720"/>
            </a:xfrm>
            <a:custGeom>
              <a:avLst/>
              <a:gdLst/>
              <a:ahLst/>
              <a:cxnLst/>
              <a:rect l="l" t="t" r="r" b="b"/>
              <a:pathLst>
                <a:path w="5120640" h="1950720">
                  <a:moveTo>
                    <a:pt x="0" y="0"/>
                  </a:moveTo>
                  <a:lnTo>
                    <a:pt x="5120640" y="0"/>
                  </a:lnTo>
                  <a:lnTo>
                    <a:pt x="51206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48" b="-1148"/>
              </a:stretch>
            </a:blipFill>
          </p:spPr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5120640" cy="19888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Intercepts Alt+Tab, Windows key, Task Manager, copy-paste, screenshots at OS level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570983" y="3827783"/>
            <a:ext cx="5328923" cy="2677163"/>
            <a:chOff x="0" y="0"/>
            <a:chExt cx="7105231" cy="3569551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05397" cy="3569716"/>
            </a:xfrm>
            <a:custGeom>
              <a:avLst/>
              <a:gdLst/>
              <a:ahLst/>
              <a:cxnLst/>
              <a:rect l="l" t="t" r="r" b="b"/>
              <a:pathLst>
                <a:path w="7105397" h="3569716">
                  <a:moveTo>
                    <a:pt x="0" y="246253"/>
                  </a:moveTo>
                  <a:cubicBezTo>
                    <a:pt x="0" y="110236"/>
                    <a:pt x="110236" y="0"/>
                    <a:pt x="246253" y="0"/>
                  </a:cubicBezTo>
                  <a:lnTo>
                    <a:pt x="6859143" y="0"/>
                  </a:lnTo>
                  <a:cubicBezTo>
                    <a:pt x="6995160" y="0"/>
                    <a:pt x="7105397" y="110236"/>
                    <a:pt x="7105397" y="246253"/>
                  </a:cubicBezTo>
                  <a:lnTo>
                    <a:pt x="7105397" y="3323463"/>
                  </a:lnTo>
                  <a:cubicBezTo>
                    <a:pt x="7105397" y="3459480"/>
                    <a:pt x="6995160" y="3569716"/>
                    <a:pt x="6859143" y="3569716"/>
                  </a:cubicBezTo>
                  <a:lnTo>
                    <a:pt x="246253" y="3569716"/>
                  </a:lnTo>
                  <a:cubicBezTo>
                    <a:pt x="110236" y="3569589"/>
                    <a:pt x="0" y="3459353"/>
                    <a:pt x="0" y="3323336"/>
                  </a:cubicBezTo>
                  <a:close/>
                </a:path>
              </a:pathLst>
            </a:custGeom>
            <a:solidFill>
              <a:srgbClr val="F8F9FA"/>
            </a:solidFill>
            <a:ln w="25400" cap="sq">
              <a:solidFill>
                <a:srgbClr val="E5E7EB"/>
              </a:solidFill>
              <a:prstDash val="solid"/>
              <a:miter/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6894576" y="4389120"/>
            <a:ext cx="694944" cy="694944"/>
            <a:chOff x="0" y="0"/>
            <a:chExt cx="926592" cy="926592"/>
          </a:xfrm>
        </p:grpSpPr>
        <p:sp>
          <p:nvSpPr>
            <p:cNvPr id="26" name="Freeform 26" descr="preencoded.png"/>
            <p:cNvSpPr/>
            <p:nvPr/>
          </p:nvSpPr>
          <p:spPr>
            <a:xfrm>
              <a:off x="0" y="0"/>
              <a:ext cx="926592" cy="926592"/>
            </a:xfrm>
            <a:custGeom>
              <a:avLst/>
              <a:gdLst/>
              <a:ahLst/>
              <a:cxnLst/>
              <a:rect l="l" t="t" r="r" b="b"/>
              <a:pathLst>
                <a:path w="926592" h="926592">
                  <a:moveTo>
                    <a:pt x="0" y="0"/>
                  </a:moveTo>
                  <a:lnTo>
                    <a:pt x="926592" y="0"/>
                  </a:lnTo>
                  <a:lnTo>
                    <a:pt x="926592" y="926592"/>
                  </a:lnTo>
                  <a:lnTo>
                    <a:pt x="0" y="926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27" name="Group 27"/>
          <p:cNvGrpSpPr/>
          <p:nvPr/>
        </p:nvGrpSpPr>
        <p:grpSpPr>
          <a:xfrm>
            <a:off x="7772400" y="4059936"/>
            <a:ext cx="3840480" cy="694944"/>
            <a:chOff x="0" y="0"/>
            <a:chExt cx="5120640" cy="92659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5120640" cy="926592"/>
            </a:xfrm>
            <a:custGeom>
              <a:avLst/>
              <a:gdLst/>
              <a:ahLst/>
              <a:cxnLst/>
              <a:rect l="l" t="t" r="r" b="b"/>
              <a:pathLst>
                <a:path w="5120640" h="926592">
                  <a:moveTo>
                    <a:pt x="0" y="0"/>
                  </a:moveTo>
                  <a:lnTo>
                    <a:pt x="5120640" y="0"/>
                  </a:lnTo>
                  <a:lnTo>
                    <a:pt x="51206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7680" b="-57680"/>
              </a:stretch>
            </a:blipFill>
          </p:spPr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5120640" cy="9742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1A1A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Local Code Compiler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7772400" y="4791456"/>
            <a:ext cx="3840480" cy="1463040"/>
            <a:chOff x="0" y="0"/>
            <a:chExt cx="5120640" cy="195072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5120640" cy="1950720"/>
            </a:xfrm>
            <a:custGeom>
              <a:avLst/>
              <a:gdLst/>
              <a:ahLst/>
              <a:cxnLst/>
              <a:rect l="l" t="t" r="r" b="b"/>
              <a:pathLst>
                <a:path w="5120640" h="1950720">
                  <a:moveTo>
                    <a:pt x="0" y="0"/>
                  </a:moveTo>
                  <a:lnTo>
                    <a:pt x="5120640" y="0"/>
                  </a:lnTo>
                  <a:lnTo>
                    <a:pt x="51206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48" b="-1148"/>
              </a:stretch>
            </a:blipFill>
          </p:spPr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5120640" cy="19888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Compiles and executes C programs locally via GCC/MinGW — no server needed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240263" y="3827783"/>
            <a:ext cx="5328923" cy="2677163"/>
            <a:chOff x="0" y="0"/>
            <a:chExt cx="7105231" cy="3569551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7105397" cy="3569716"/>
            </a:xfrm>
            <a:custGeom>
              <a:avLst/>
              <a:gdLst/>
              <a:ahLst/>
              <a:cxnLst/>
              <a:rect l="l" t="t" r="r" b="b"/>
              <a:pathLst>
                <a:path w="7105397" h="3569716">
                  <a:moveTo>
                    <a:pt x="0" y="246253"/>
                  </a:moveTo>
                  <a:cubicBezTo>
                    <a:pt x="0" y="110236"/>
                    <a:pt x="110236" y="0"/>
                    <a:pt x="246253" y="0"/>
                  </a:cubicBezTo>
                  <a:lnTo>
                    <a:pt x="6859143" y="0"/>
                  </a:lnTo>
                  <a:cubicBezTo>
                    <a:pt x="6995160" y="0"/>
                    <a:pt x="7105397" y="110236"/>
                    <a:pt x="7105397" y="246253"/>
                  </a:cubicBezTo>
                  <a:lnTo>
                    <a:pt x="7105397" y="3323463"/>
                  </a:lnTo>
                  <a:cubicBezTo>
                    <a:pt x="7105397" y="3459480"/>
                    <a:pt x="6995160" y="3569716"/>
                    <a:pt x="6859143" y="3569716"/>
                  </a:cubicBezTo>
                  <a:lnTo>
                    <a:pt x="246253" y="3569716"/>
                  </a:lnTo>
                  <a:cubicBezTo>
                    <a:pt x="110236" y="3569589"/>
                    <a:pt x="0" y="3459353"/>
                    <a:pt x="0" y="3323336"/>
                  </a:cubicBezTo>
                  <a:close/>
                </a:path>
              </a:pathLst>
            </a:custGeom>
            <a:solidFill>
              <a:srgbClr val="F8F9FA"/>
            </a:solidFill>
            <a:ln w="25400" cap="sq">
              <a:solidFill>
                <a:srgbClr val="E5E7EB"/>
              </a:solidFill>
              <a:prstDash val="solid"/>
              <a:miter/>
            </a:ln>
          </p:spPr>
        </p:sp>
      </p:grpSp>
      <p:grpSp>
        <p:nvGrpSpPr>
          <p:cNvPr id="35" name="Group 35"/>
          <p:cNvGrpSpPr/>
          <p:nvPr/>
        </p:nvGrpSpPr>
        <p:grpSpPr>
          <a:xfrm>
            <a:off x="12563856" y="4389120"/>
            <a:ext cx="694944" cy="694944"/>
            <a:chOff x="0" y="0"/>
            <a:chExt cx="926592" cy="926592"/>
          </a:xfrm>
        </p:grpSpPr>
        <p:sp>
          <p:nvSpPr>
            <p:cNvPr id="36" name="Freeform 36" descr="preencoded.png"/>
            <p:cNvSpPr/>
            <p:nvPr/>
          </p:nvSpPr>
          <p:spPr>
            <a:xfrm>
              <a:off x="0" y="0"/>
              <a:ext cx="926592" cy="926592"/>
            </a:xfrm>
            <a:custGeom>
              <a:avLst/>
              <a:gdLst/>
              <a:ahLst/>
              <a:cxnLst/>
              <a:rect l="l" t="t" r="r" b="b"/>
              <a:pathLst>
                <a:path w="926592" h="926592">
                  <a:moveTo>
                    <a:pt x="0" y="0"/>
                  </a:moveTo>
                  <a:lnTo>
                    <a:pt x="926592" y="0"/>
                  </a:lnTo>
                  <a:lnTo>
                    <a:pt x="926592" y="926592"/>
                  </a:lnTo>
                  <a:lnTo>
                    <a:pt x="0" y="926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grpSp>
        <p:nvGrpSpPr>
          <p:cNvPr id="37" name="Group 37"/>
          <p:cNvGrpSpPr/>
          <p:nvPr/>
        </p:nvGrpSpPr>
        <p:grpSpPr>
          <a:xfrm>
            <a:off x="13441680" y="4059936"/>
            <a:ext cx="3840480" cy="694944"/>
            <a:chOff x="0" y="0"/>
            <a:chExt cx="5120640" cy="92659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5120640" cy="926592"/>
            </a:xfrm>
            <a:custGeom>
              <a:avLst/>
              <a:gdLst/>
              <a:ahLst/>
              <a:cxnLst/>
              <a:rect l="l" t="t" r="r" b="b"/>
              <a:pathLst>
                <a:path w="5120640" h="926592">
                  <a:moveTo>
                    <a:pt x="0" y="0"/>
                  </a:moveTo>
                  <a:lnTo>
                    <a:pt x="5120640" y="0"/>
                  </a:lnTo>
                  <a:lnTo>
                    <a:pt x="51206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7680" b="-57680"/>
              </a:stretch>
            </a:blipFill>
          </p:spPr>
        </p:sp>
        <p:sp>
          <p:nvSpPr>
            <p:cNvPr id="39" name="TextBox 39"/>
            <p:cNvSpPr txBox="1"/>
            <p:nvPr/>
          </p:nvSpPr>
          <p:spPr>
            <a:xfrm>
              <a:off x="0" y="-47625"/>
              <a:ext cx="5120640" cy="9742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1A1A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Teacher Dashboard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3441680" y="4791456"/>
            <a:ext cx="3840480" cy="1463040"/>
            <a:chOff x="0" y="0"/>
            <a:chExt cx="5120640" cy="195072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5120640" cy="1950720"/>
            </a:xfrm>
            <a:custGeom>
              <a:avLst/>
              <a:gdLst/>
              <a:ahLst/>
              <a:cxnLst/>
              <a:rect l="l" t="t" r="r" b="b"/>
              <a:pathLst>
                <a:path w="5120640" h="1950720">
                  <a:moveTo>
                    <a:pt x="0" y="0"/>
                  </a:moveTo>
                  <a:lnTo>
                    <a:pt x="5120640" y="0"/>
                  </a:lnTo>
                  <a:lnTo>
                    <a:pt x="51206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48" b="-1148"/>
              </a:stretch>
            </a:blipFill>
          </p:spPr>
        </p:sp>
        <p:sp>
          <p:nvSpPr>
            <p:cNvPr id="42" name="TextBox 42"/>
            <p:cNvSpPr txBox="1"/>
            <p:nvPr/>
          </p:nvSpPr>
          <p:spPr>
            <a:xfrm>
              <a:off x="0" y="-38100"/>
              <a:ext cx="5120640" cy="19888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Live monitoring, violation alerts, and session control from any browser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901703" y="6753863"/>
            <a:ext cx="5328923" cy="2677163"/>
            <a:chOff x="0" y="0"/>
            <a:chExt cx="7105231" cy="3569551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7105397" cy="3569716"/>
            </a:xfrm>
            <a:custGeom>
              <a:avLst/>
              <a:gdLst/>
              <a:ahLst/>
              <a:cxnLst/>
              <a:rect l="l" t="t" r="r" b="b"/>
              <a:pathLst>
                <a:path w="7105397" h="3569716">
                  <a:moveTo>
                    <a:pt x="0" y="246253"/>
                  </a:moveTo>
                  <a:cubicBezTo>
                    <a:pt x="0" y="110236"/>
                    <a:pt x="110236" y="0"/>
                    <a:pt x="246253" y="0"/>
                  </a:cubicBezTo>
                  <a:lnTo>
                    <a:pt x="6859143" y="0"/>
                  </a:lnTo>
                  <a:cubicBezTo>
                    <a:pt x="6995160" y="0"/>
                    <a:pt x="7105397" y="110236"/>
                    <a:pt x="7105397" y="246253"/>
                  </a:cubicBezTo>
                  <a:lnTo>
                    <a:pt x="7105397" y="3323463"/>
                  </a:lnTo>
                  <a:cubicBezTo>
                    <a:pt x="7105397" y="3459480"/>
                    <a:pt x="6995160" y="3569716"/>
                    <a:pt x="6859143" y="3569716"/>
                  </a:cubicBezTo>
                  <a:lnTo>
                    <a:pt x="246253" y="3569716"/>
                  </a:lnTo>
                  <a:cubicBezTo>
                    <a:pt x="110236" y="3569589"/>
                    <a:pt x="0" y="3459353"/>
                    <a:pt x="0" y="3323336"/>
                  </a:cubicBezTo>
                  <a:close/>
                </a:path>
              </a:pathLst>
            </a:custGeom>
            <a:solidFill>
              <a:srgbClr val="F8F9FA"/>
            </a:solidFill>
            <a:ln w="25400" cap="sq">
              <a:solidFill>
                <a:srgbClr val="E5E7EB"/>
              </a:solidFill>
              <a:prstDash val="solid"/>
              <a:miter/>
            </a:ln>
          </p:spPr>
        </p:sp>
      </p:grpSp>
      <p:grpSp>
        <p:nvGrpSpPr>
          <p:cNvPr id="45" name="Group 45"/>
          <p:cNvGrpSpPr/>
          <p:nvPr/>
        </p:nvGrpSpPr>
        <p:grpSpPr>
          <a:xfrm>
            <a:off x="1225296" y="7315200"/>
            <a:ext cx="694944" cy="694944"/>
            <a:chOff x="0" y="0"/>
            <a:chExt cx="926592" cy="926592"/>
          </a:xfrm>
        </p:grpSpPr>
        <p:sp>
          <p:nvSpPr>
            <p:cNvPr id="46" name="Freeform 46" descr="preencoded.png"/>
            <p:cNvSpPr/>
            <p:nvPr/>
          </p:nvSpPr>
          <p:spPr>
            <a:xfrm>
              <a:off x="0" y="0"/>
              <a:ext cx="926592" cy="926592"/>
            </a:xfrm>
            <a:custGeom>
              <a:avLst/>
              <a:gdLst/>
              <a:ahLst/>
              <a:cxnLst/>
              <a:rect l="l" t="t" r="r" b="b"/>
              <a:pathLst>
                <a:path w="926592" h="926592">
                  <a:moveTo>
                    <a:pt x="0" y="0"/>
                  </a:moveTo>
                  <a:lnTo>
                    <a:pt x="926592" y="0"/>
                  </a:lnTo>
                  <a:lnTo>
                    <a:pt x="926592" y="926592"/>
                  </a:lnTo>
                  <a:lnTo>
                    <a:pt x="0" y="926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47" name="Group 47"/>
          <p:cNvGrpSpPr/>
          <p:nvPr/>
        </p:nvGrpSpPr>
        <p:grpSpPr>
          <a:xfrm>
            <a:off x="2103120" y="6986016"/>
            <a:ext cx="3840480" cy="694944"/>
            <a:chOff x="0" y="0"/>
            <a:chExt cx="5120640" cy="926592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5120640" cy="926592"/>
            </a:xfrm>
            <a:custGeom>
              <a:avLst/>
              <a:gdLst/>
              <a:ahLst/>
              <a:cxnLst/>
              <a:rect l="l" t="t" r="r" b="b"/>
              <a:pathLst>
                <a:path w="5120640" h="926592">
                  <a:moveTo>
                    <a:pt x="0" y="0"/>
                  </a:moveTo>
                  <a:lnTo>
                    <a:pt x="5120640" y="0"/>
                  </a:lnTo>
                  <a:lnTo>
                    <a:pt x="51206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7680" b="-57680"/>
              </a:stretch>
            </a:blipFill>
          </p:spPr>
        </p:sp>
        <p:sp>
          <p:nvSpPr>
            <p:cNvPr id="49" name="TextBox 49"/>
            <p:cNvSpPr txBox="1"/>
            <p:nvPr/>
          </p:nvSpPr>
          <p:spPr>
            <a:xfrm>
              <a:off x="0" y="-47625"/>
              <a:ext cx="5120640" cy="9742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1A1A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Multi-Type Exam Builder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2103120" y="7717536"/>
            <a:ext cx="3840480" cy="1463040"/>
            <a:chOff x="0" y="0"/>
            <a:chExt cx="5120640" cy="195072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120640" cy="1950720"/>
            </a:xfrm>
            <a:custGeom>
              <a:avLst/>
              <a:gdLst/>
              <a:ahLst/>
              <a:cxnLst/>
              <a:rect l="l" t="t" r="r" b="b"/>
              <a:pathLst>
                <a:path w="5120640" h="1950720">
                  <a:moveTo>
                    <a:pt x="0" y="0"/>
                  </a:moveTo>
                  <a:lnTo>
                    <a:pt x="5120640" y="0"/>
                  </a:lnTo>
                  <a:lnTo>
                    <a:pt x="51206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48" b="-1148"/>
              </a:stretch>
            </a:blipFill>
          </p:spPr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5120640" cy="19888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Multiple Choice, Fill-in-the-Blank, and Coding questions in one exam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570983" y="6753863"/>
            <a:ext cx="5328923" cy="2677163"/>
            <a:chOff x="0" y="0"/>
            <a:chExt cx="7105231" cy="3569551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7105397" cy="3569716"/>
            </a:xfrm>
            <a:custGeom>
              <a:avLst/>
              <a:gdLst/>
              <a:ahLst/>
              <a:cxnLst/>
              <a:rect l="l" t="t" r="r" b="b"/>
              <a:pathLst>
                <a:path w="7105397" h="3569716">
                  <a:moveTo>
                    <a:pt x="0" y="246253"/>
                  </a:moveTo>
                  <a:cubicBezTo>
                    <a:pt x="0" y="110236"/>
                    <a:pt x="110236" y="0"/>
                    <a:pt x="246253" y="0"/>
                  </a:cubicBezTo>
                  <a:lnTo>
                    <a:pt x="6859143" y="0"/>
                  </a:lnTo>
                  <a:cubicBezTo>
                    <a:pt x="6995160" y="0"/>
                    <a:pt x="7105397" y="110236"/>
                    <a:pt x="7105397" y="246253"/>
                  </a:cubicBezTo>
                  <a:lnTo>
                    <a:pt x="7105397" y="3323463"/>
                  </a:lnTo>
                  <a:cubicBezTo>
                    <a:pt x="7105397" y="3459480"/>
                    <a:pt x="6995160" y="3569716"/>
                    <a:pt x="6859143" y="3569716"/>
                  </a:cubicBezTo>
                  <a:lnTo>
                    <a:pt x="246253" y="3569716"/>
                  </a:lnTo>
                  <a:cubicBezTo>
                    <a:pt x="110236" y="3569589"/>
                    <a:pt x="0" y="3459353"/>
                    <a:pt x="0" y="3323336"/>
                  </a:cubicBezTo>
                  <a:close/>
                </a:path>
              </a:pathLst>
            </a:custGeom>
            <a:solidFill>
              <a:srgbClr val="F8F9FA"/>
            </a:solidFill>
            <a:ln w="25400" cap="sq">
              <a:solidFill>
                <a:srgbClr val="E5E7EB"/>
              </a:solidFill>
              <a:prstDash val="solid"/>
              <a:miter/>
            </a:ln>
          </p:spPr>
        </p:sp>
      </p:grpSp>
      <p:grpSp>
        <p:nvGrpSpPr>
          <p:cNvPr id="55" name="Group 55"/>
          <p:cNvGrpSpPr/>
          <p:nvPr/>
        </p:nvGrpSpPr>
        <p:grpSpPr>
          <a:xfrm>
            <a:off x="6894576" y="7315200"/>
            <a:ext cx="694944" cy="694944"/>
            <a:chOff x="0" y="0"/>
            <a:chExt cx="926592" cy="926592"/>
          </a:xfrm>
        </p:grpSpPr>
        <p:sp>
          <p:nvSpPr>
            <p:cNvPr id="56" name="Freeform 56" descr="preencoded.png"/>
            <p:cNvSpPr/>
            <p:nvPr/>
          </p:nvSpPr>
          <p:spPr>
            <a:xfrm>
              <a:off x="0" y="0"/>
              <a:ext cx="926592" cy="926592"/>
            </a:xfrm>
            <a:custGeom>
              <a:avLst/>
              <a:gdLst/>
              <a:ahLst/>
              <a:cxnLst/>
              <a:rect l="l" t="t" r="r" b="b"/>
              <a:pathLst>
                <a:path w="926592" h="926592">
                  <a:moveTo>
                    <a:pt x="0" y="0"/>
                  </a:moveTo>
                  <a:lnTo>
                    <a:pt x="926592" y="0"/>
                  </a:lnTo>
                  <a:lnTo>
                    <a:pt x="926592" y="926592"/>
                  </a:lnTo>
                  <a:lnTo>
                    <a:pt x="0" y="926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grpSp>
        <p:nvGrpSpPr>
          <p:cNvPr id="57" name="Group 57"/>
          <p:cNvGrpSpPr/>
          <p:nvPr/>
        </p:nvGrpSpPr>
        <p:grpSpPr>
          <a:xfrm>
            <a:off x="7772400" y="6986016"/>
            <a:ext cx="3840480" cy="694944"/>
            <a:chOff x="0" y="0"/>
            <a:chExt cx="5120640" cy="926592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5120640" cy="926592"/>
            </a:xfrm>
            <a:custGeom>
              <a:avLst/>
              <a:gdLst/>
              <a:ahLst/>
              <a:cxnLst/>
              <a:rect l="l" t="t" r="r" b="b"/>
              <a:pathLst>
                <a:path w="5120640" h="926592">
                  <a:moveTo>
                    <a:pt x="0" y="0"/>
                  </a:moveTo>
                  <a:lnTo>
                    <a:pt x="5120640" y="0"/>
                  </a:lnTo>
                  <a:lnTo>
                    <a:pt x="51206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7680" b="-57680"/>
              </a:stretch>
            </a:blipFill>
          </p:spPr>
        </p:sp>
        <p:sp>
          <p:nvSpPr>
            <p:cNvPr id="59" name="TextBox 59"/>
            <p:cNvSpPr txBox="1"/>
            <p:nvPr/>
          </p:nvSpPr>
          <p:spPr>
            <a:xfrm>
              <a:off x="0" y="-47625"/>
              <a:ext cx="5120640" cy="9742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1A1A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Cloud Sync &amp; Storage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7772400" y="7717536"/>
            <a:ext cx="3840480" cy="1463040"/>
            <a:chOff x="0" y="0"/>
            <a:chExt cx="5120640" cy="195072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5120640" cy="1950720"/>
            </a:xfrm>
            <a:custGeom>
              <a:avLst/>
              <a:gdLst/>
              <a:ahLst/>
              <a:cxnLst/>
              <a:rect l="l" t="t" r="r" b="b"/>
              <a:pathLst>
                <a:path w="5120640" h="1950720">
                  <a:moveTo>
                    <a:pt x="0" y="0"/>
                  </a:moveTo>
                  <a:lnTo>
                    <a:pt x="5120640" y="0"/>
                  </a:lnTo>
                  <a:lnTo>
                    <a:pt x="51206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48" b="-1148"/>
              </a:stretch>
            </a:blipFill>
          </p:spPr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5120640" cy="19888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Centralized records, submissions, and violation logs stored securely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2240263" y="6753863"/>
            <a:ext cx="5328923" cy="2677163"/>
            <a:chOff x="0" y="0"/>
            <a:chExt cx="7105231" cy="3569551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7105397" cy="3569716"/>
            </a:xfrm>
            <a:custGeom>
              <a:avLst/>
              <a:gdLst/>
              <a:ahLst/>
              <a:cxnLst/>
              <a:rect l="l" t="t" r="r" b="b"/>
              <a:pathLst>
                <a:path w="7105397" h="3569716">
                  <a:moveTo>
                    <a:pt x="0" y="246253"/>
                  </a:moveTo>
                  <a:cubicBezTo>
                    <a:pt x="0" y="110236"/>
                    <a:pt x="110236" y="0"/>
                    <a:pt x="246253" y="0"/>
                  </a:cubicBezTo>
                  <a:lnTo>
                    <a:pt x="6859143" y="0"/>
                  </a:lnTo>
                  <a:cubicBezTo>
                    <a:pt x="6995160" y="0"/>
                    <a:pt x="7105397" y="110236"/>
                    <a:pt x="7105397" y="246253"/>
                  </a:cubicBezTo>
                  <a:lnTo>
                    <a:pt x="7105397" y="3323463"/>
                  </a:lnTo>
                  <a:cubicBezTo>
                    <a:pt x="7105397" y="3459480"/>
                    <a:pt x="6995160" y="3569716"/>
                    <a:pt x="6859143" y="3569716"/>
                  </a:cubicBezTo>
                  <a:lnTo>
                    <a:pt x="246253" y="3569716"/>
                  </a:lnTo>
                  <a:cubicBezTo>
                    <a:pt x="110236" y="3569589"/>
                    <a:pt x="0" y="3459353"/>
                    <a:pt x="0" y="3323336"/>
                  </a:cubicBezTo>
                  <a:close/>
                </a:path>
              </a:pathLst>
            </a:custGeom>
            <a:solidFill>
              <a:srgbClr val="F8F9FA"/>
            </a:solidFill>
            <a:ln w="25400" cap="sq">
              <a:solidFill>
                <a:srgbClr val="E5E7EB"/>
              </a:solidFill>
              <a:prstDash val="solid"/>
              <a:miter/>
            </a:ln>
          </p:spPr>
        </p:sp>
      </p:grpSp>
      <p:grpSp>
        <p:nvGrpSpPr>
          <p:cNvPr id="65" name="Group 65"/>
          <p:cNvGrpSpPr/>
          <p:nvPr/>
        </p:nvGrpSpPr>
        <p:grpSpPr>
          <a:xfrm>
            <a:off x="12563856" y="7315200"/>
            <a:ext cx="694944" cy="694944"/>
            <a:chOff x="0" y="0"/>
            <a:chExt cx="926592" cy="926592"/>
          </a:xfrm>
        </p:grpSpPr>
        <p:sp>
          <p:nvSpPr>
            <p:cNvPr id="66" name="Freeform 66" descr="preencoded.png"/>
            <p:cNvSpPr/>
            <p:nvPr/>
          </p:nvSpPr>
          <p:spPr>
            <a:xfrm>
              <a:off x="0" y="0"/>
              <a:ext cx="926592" cy="926592"/>
            </a:xfrm>
            <a:custGeom>
              <a:avLst/>
              <a:gdLst/>
              <a:ahLst/>
              <a:cxnLst/>
              <a:rect l="l" t="t" r="r" b="b"/>
              <a:pathLst>
                <a:path w="926592" h="926592">
                  <a:moveTo>
                    <a:pt x="0" y="0"/>
                  </a:moveTo>
                  <a:lnTo>
                    <a:pt x="926592" y="0"/>
                  </a:lnTo>
                  <a:lnTo>
                    <a:pt x="926592" y="926592"/>
                  </a:lnTo>
                  <a:lnTo>
                    <a:pt x="0" y="926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</p:grpSp>
      <p:grpSp>
        <p:nvGrpSpPr>
          <p:cNvPr id="67" name="Group 67"/>
          <p:cNvGrpSpPr/>
          <p:nvPr/>
        </p:nvGrpSpPr>
        <p:grpSpPr>
          <a:xfrm>
            <a:off x="13441680" y="6986016"/>
            <a:ext cx="3840480" cy="694944"/>
            <a:chOff x="0" y="0"/>
            <a:chExt cx="5120640" cy="92659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5120640" cy="926592"/>
            </a:xfrm>
            <a:custGeom>
              <a:avLst/>
              <a:gdLst/>
              <a:ahLst/>
              <a:cxnLst/>
              <a:rect l="l" t="t" r="r" b="b"/>
              <a:pathLst>
                <a:path w="5120640" h="926592">
                  <a:moveTo>
                    <a:pt x="0" y="0"/>
                  </a:moveTo>
                  <a:lnTo>
                    <a:pt x="5120640" y="0"/>
                  </a:lnTo>
                  <a:lnTo>
                    <a:pt x="51206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7680" b="-57680"/>
              </a:stretch>
            </a:blipFill>
          </p:spPr>
        </p:sp>
        <p:sp>
          <p:nvSpPr>
            <p:cNvPr id="69" name="TextBox 69"/>
            <p:cNvSpPr txBox="1"/>
            <p:nvPr/>
          </p:nvSpPr>
          <p:spPr>
            <a:xfrm>
              <a:off x="0" y="-47625"/>
              <a:ext cx="5120640" cy="9742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1A1A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Export Reports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13441680" y="7717536"/>
            <a:ext cx="3840480" cy="1463040"/>
            <a:chOff x="0" y="0"/>
            <a:chExt cx="5120640" cy="1950720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5120640" cy="1950720"/>
            </a:xfrm>
            <a:custGeom>
              <a:avLst/>
              <a:gdLst/>
              <a:ahLst/>
              <a:cxnLst/>
              <a:rect l="l" t="t" r="r" b="b"/>
              <a:pathLst>
                <a:path w="5120640" h="1950720">
                  <a:moveTo>
                    <a:pt x="0" y="0"/>
                  </a:moveTo>
                  <a:lnTo>
                    <a:pt x="5120640" y="0"/>
                  </a:lnTo>
                  <a:lnTo>
                    <a:pt x="51206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48" b="-1148"/>
              </a:stretch>
            </a:blip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5120640" cy="19888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CSV result sheets and incident reports generated instantly after the exam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48640"/>
            <a:ext cx="10972800" cy="1280160"/>
            <a:chOff x="0" y="0"/>
            <a:chExt cx="14630400" cy="17068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1706880"/>
            </a:xfrm>
            <a:custGeom>
              <a:avLst/>
              <a:gdLst/>
              <a:ahLst/>
              <a:cxnLst/>
              <a:rect l="l" t="t" r="r" b="b"/>
              <a:pathLst>
                <a:path w="14630400" h="1706880">
                  <a:moveTo>
                    <a:pt x="0" y="0"/>
                  </a:moveTo>
                  <a:lnTo>
                    <a:pt x="14630400" y="0"/>
                  </a:lnTo>
                  <a:lnTo>
                    <a:pt x="1463040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7014" b="-117014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123825"/>
              <a:ext cx="14630400" cy="18307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680"/>
                </a:lnSpc>
              </a:pPr>
              <a:r>
                <a:rPr lang="en-US" sz="6400" b="1">
                  <a:solidFill>
                    <a:srgbClr val="1A1A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Lockdown &amp; Security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01703" y="1962407"/>
            <a:ext cx="16484603" cy="98555"/>
            <a:chOff x="0" y="0"/>
            <a:chExt cx="21979471" cy="1314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79510" cy="131445"/>
            </a:xfrm>
            <a:custGeom>
              <a:avLst/>
              <a:gdLst/>
              <a:ahLst/>
              <a:cxnLst/>
              <a:rect l="l" t="t" r="r" b="b"/>
              <a:pathLst>
                <a:path w="21979510" h="131445">
                  <a:moveTo>
                    <a:pt x="0" y="0"/>
                  </a:moveTo>
                  <a:lnTo>
                    <a:pt x="21979510" y="0"/>
                  </a:lnTo>
                  <a:lnTo>
                    <a:pt x="21979510" y="131445"/>
                  </a:lnTo>
                  <a:lnTo>
                    <a:pt x="0" y="131445"/>
                  </a:lnTo>
                  <a:close/>
                </a:path>
              </a:pathLst>
            </a:custGeom>
            <a:solidFill>
              <a:srgbClr val="E5E7EB"/>
            </a:solidFill>
            <a:ln w="25400" cap="sq">
              <a:solidFill>
                <a:srgbClr val="E5E7EB"/>
              </a:solidFill>
              <a:prstDash val="solid"/>
              <a:miter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901703" y="2181863"/>
            <a:ext cx="8255003" cy="7340603"/>
            <a:chOff x="0" y="0"/>
            <a:chExt cx="11006671" cy="978747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1006709" cy="9787509"/>
            </a:xfrm>
            <a:custGeom>
              <a:avLst/>
              <a:gdLst/>
              <a:ahLst/>
              <a:cxnLst/>
              <a:rect l="l" t="t" r="r" b="b"/>
              <a:pathLst>
                <a:path w="11006709" h="9787509">
                  <a:moveTo>
                    <a:pt x="0" y="293624"/>
                  </a:moveTo>
                  <a:cubicBezTo>
                    <a:pt x="0" y="131445"/>
                    <a:pt x="131445" y="0"/>
                    <a:pt x="293624" y="0"/>
                  </a:cubicBezTo>
                  <a:lnTo>
                    <a:pt x="10713085" y="0"/>
                  </a:lnTo>
                  <a:cubicBezTo>
                    <a:pt x="10875264" y="0"/>
                    <a:pt x="11006709" y="131445"/>
                    <a:pt x="11006709" y="293624"/>
                  </a:cubicBezTo>
                  <a:lnTo>
                    <a:pt x="11006709" y="9493885"/>
                  </a:lnTo>
                  <a:cubicBezTo>
                    <a:pt x="11006709" y="9656064"/>
                    <a:pt x="10875264" y="9787509"/>
                    <a:pt x="10713085" y="9787509"/>
                  </a:cubicBezTo>
                  <a:lnTo>
                    <a:pt x="293624" y="9787509"/>
                  </a:lnTo>
                  <a:cubicBezTo>
                    <a:pt x="131445" y="9787509"/>
                    <a:pt x="0" y="9656064"/>
                    <a:pt x="0" y="9493885"/>
                  </a:cubicBezTo>
                  <a:close/>
                </a:path>
              </a:pathLst>
            </a:custGeom>
            <a:solidFill>
              <a:srgbClr val="FEF2F2"/>
            </a:solidFill>
            <a:ln w="25400" cap="sq">
              <a:solidFill>
                <a:srgbClr val="FCA5A5"/>
              </a:solidFill>
              <a:prstDash val="solid"/>
              <a:miter/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1280160" y="2468880"/>
            <a:ext cx="7498080" cy="731520"/>
            <a:chOff x="0" y="0"/>
            <a:chExt cx="9997440" cy="97536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997440" cy="975360"/>
            </a:xfrm>
            <a:custGeom>
              <a:avLst/>
              <a:gdLst/>
              <a:ahLst/>
              <a:cxnLst/>
              <a:rect l="l" t="t" r="r" b="b"/>
              <a:pathLst>
                <a:path w="9997440" h="975360">
                  <a:moveTo>
                    <a:pt x="0" y="0"/>
                  </a:moveTo>
                  <a:lnTo>
                    <a:pt x="9997440" y="0"/>
                  </a:lnTo>
                  <a:lnTo>
                    <a:pt x="999744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49721" b="-149721"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9997440" cy="10325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DC262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What's Intercepted &amp; Blocked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71600" y="3474720"/>
            <a:ext cx="7315200" cy="694944"/>
            <a:chOff x="0" y="0"/>
            <a:chExt cx="9753600" cy="92659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753600" cy="926592"/>
            </a:xfrm>
            <a:custGeom>
              <a:avLst/>
              <a:gdLst/>
              <a:ahLst/>
              <a:cxnLst/>
              <a:rect l="l" t="t" r="r" b="b"/>
              <a:pathLst>
                <a:path w="9753600" h="926592">
                  <a:moveTo>
                    <a:pt x="0" y="0"/>
                  </a:moveTo>
                  <a:lnTo>
                    <a:pt x="9753600" y="0"/>
                  </a:lnTo>
                  <a:lnTo>
                    <a:pt x="975360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55105" b="-155105"/>
              </a:stretch>
            </a:blipFill>
          </p:spPr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9753600" cy="9742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554990" lvl="1" indent="-277495" algn="l">
                <a:lnSpc>
                  <a:spcPts val="2760"/>
                </a:lnSpc>
                <a:buFont typeface="Arial"/>
                <a:buChar char="•"/>
              </a:pPr>
              <a:r>
                <a:rPr lang="en-US" sz="2300">
                  <a:solidFill>
                    <a:srgbClr val="1A1A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Alt+Tab and all app-switching shortcuts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71600" y="4261104"/>
            <a:ext cx="7315200" cy="694944"/>
            <a:chOff x="0" y="0"/>
            <a:chExt cx="9753600" cy="92659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9753600" cy="926592"/>
            </a:xfrm>
            <a:custGeom>
              <a:avLst/>
              <a:gdLst/>
              <a:ahLst/>
              <a:cxnLst/>
              <a:rect l="l" t="t" r="r" b="b"/>
              <a:pathLst>
                <a:path w="9753600" h="926592">
                  <a:moveTo>
                    <a:pt x="0" y="0"/>
                  </a:moveTo>
                  <a:lnTo>
                    <a:pt x="9753600" y="0"/>
                  </a:lnTo>
                  <a:lnTo>
                    <a:pt x="975360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55105" b="-155105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9753600" cy="9742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554990" lvl="1" indent="-277495" algn="l">
                <a:lnSpc>
                  <a:spcPts val="2760"/>
                </a:lnSpc>
                <a:buFont typeface="Arial"/>
                <a:buChar char="•"/>
              </a:pPr>
              <a:r>
                <a:rPr lang="en-US" sz="2300">
                  <a:solidFill>
                    <a:srgbClr val="1A1A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Windows key and Start menu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71600" y="5047488"/>
            <a:ext cx="7315200" cy="694944"/>
            <a:chOff x="0" y="0"/>
            <a:chExt cx="9753600" cy="92659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753600" cy="926592"/>
            </a:xfrm>
            <a:custGeom>
              <a:avLst/>
              <a:gdLst/>
              <a:ahLst/>
              <a:cxnLst/>
              <a:rect l="l" t="t" r="r" b="b"/>
              <a:pathLst>
                <a:path w="9753600" h="926592">
                  <a:moveTo>
                    <a:pt x="0" y="0"/>
                  </a:moveTo>
                  <a:lnTo>
                    <a:pt x="9753600" y="0"/>
                  </a:lnTo>
                  <a:lnTo>
                    <a:pt x="975360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55105" b="-155105"/>
              </a:stretch>
            </a:blipFill>
          </p:spPr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9753600" cy="9742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554990" lvl="1" indent="-277495" algn="l">
                <a:lnSpc>
                  <a:spcPts val="2760"/>
                </a:lnSpc>
                <a:buFont typeface="Arial"/>
                <a:buChar char="•"/>
              </a:pPr>
              <a:r>
                <a:rPr lang="en-US" sz="2300">
                  <a:solidFill>
                    <a:srgbClr val="1A1A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Task Manager (Ctrl+Shift+Esc, Ctrl+Alt+Del)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71600" y="5833872"/>
            <a:ext cx="7315200" cy="694944"/>
            <a:chOff x="0" y="0"/>
            <a:chExt cx="9753600" cy="92659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753600" cy="926592"/>
            </a:xfrm>
            <a:custGeom>
              <a:avLst/>
              <a:gdLst/>
              <a:ahLst/>
              <a:cxnLst/>
              <a:rect l="l" t="t" r="r" b="b"/>
              <a:pathLst>
                <a:path w="9753600" h="926592">
                  <a:moveTo>
                    <a:pt x="0" y="0"/>
                  </a:moveTo>
                  <a:lnTo>
                    <a:pt x="9753600" y="0"/>
                  </a:lnTo>
                  <a:lnTo>
                    <a:pt x="975360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55105" b="-155105"/>
              </a:stretch>
            </a:blipFill>
          </p:spPr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9753600" cy="9742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554990" lvl="1" indent="-277495" algn="l">
                <a:lnSpc>
                  <a:spcPts val="2760"/>
                </a:lnSpc>
                <a:buFont typeface="Arial"/>
                <a:buChar char="•"/>
              </a:pPr>
              <a:r>
                <a:rPr lang="en-US" sz="2300">
                  <a:solidFill>
                    <a:srgbClr val="1A1A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Copy-paste (Ctrl+C / Ctrl+V / Ctrl+X)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71600" y="6620256"/>
            <a:ext cx="7315200" cy="694944"/>
            <a:chOff x="0" y="0"/>
            <a:chExt cx="9753600" cy="92659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9753600" cy="926592"/>
            </a:xfrm>
            <a:custGeom>
              <a:avLst/>
              <a:gdLst/>
              <a:ahLst/>
              <a:cxnLst/>
              <a:rect l="l" t="t" r="r" b="b"/>
              <a:pathLst>
                <a:path w="9753600" h="926592">
                  <a:moveTo>
                    <a:pt x="0" y="0"/>
                  </a:moveTo>
                  <a:lnTo>
                    <a:pt x="9753600" y="0"/>
                  </a:lnTo>
                  <a:lnTo>
                    <a:pt x="975360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55105" b="-155105"/>
              </a:stretch>
            </a:blipFill>
          </p:spPr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9753600" cy="9742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554990" lvl="1" indent="-277495" algn="l">
                <a:lnSpc>
                  <a:spcPts val="2760"/>
                </a:lnSpc>
                <a:buFont typeface="Arial"/>
                <a:buChar char="•"/>
              </a:pPr>
              <a:r>
                <a:rPr lang="en-US" sz="2300">
                  <a:solidFill>
                    <a:srgbClr val="1A1A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Screenshot tools (PrintScreen, Win+Shift+S)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371600" y="7406640"/>
            <a:ext cx="7315200" cy="694944"/>
            <a:chOff x="0" y="0"/>
            <a:chExt cx="9753600" cy="92659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9753600" cy="926592"/>
            </a:xfrm>
            <a:custGeom>
              <a:avLst/>
              <a:gdLst/>
              <a:ahLst/>
              <a:cxnLst/>
              <a:rect l="l" t="t" r="r" b="b"/>
              <a:pathLst>
                <a:path w="9753600" h="926592">
                  <a:moveTo>
                    <a:pt x="0" y="0"/>
                  </a:moveTo>
                  <a:lnTo>
                    <a:pt x="9753600" y="0"/>
                  </a:lnTo>
                  <a:lnTo>
                    <a:pt x="975360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55105" b="-155105"/>
              </a:stretch>
            </a:blipFill>
          </p:spPr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9753600" cy="9742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554990" lvl="1" indent="-277495" algn="l">
                <a:lnSpc>
                  <a:spcPts val="2760"/>
                </a:lnSpc>
                <a:buFont typeface="Arial"/>
                <a:buChar char="•"/>
              </a:pPr>
              <a:r>
                <a:rPr lang="en-US" sz="2300">
                  <a:solidFill>
                    <a:srgbClr val="1A1A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Disallowed applications (process monitoring)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371600" y="8193024"/>
            <a:ext cx="7315200" cy="694944"/>
            <a:chOff x="0" y="0"/>
            <a:chExt cx="9753600" cy="92659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9753600" cy="926592"/>
            </a:xfrm>
            <a:custGeom>
              <a:avLst/>
              <a:gdLst/>
              <a:ahLst/>
              <a:cxnLst/>
              <a:rect l="l" t="t" r="r" b="b"/>
              <a:pathLst>
                <a:path w="9753600" h="926592">
                  <a:moveTo>
                    <a:pt x="0" y="0"/>
                  </a:moveTo>
                  <a:lnTo>
                    <a:pt x="9753600" y="0"/>
                  </a:lnTo>
                  <a:lnTo>
                    <a:pt x="975360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55105" b="-155105"/>
              </a:stretch>
            </a:blipFill>
          </p:spPr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9753600" cy="9742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554990" lvl="1" indent="-277495" algn="l">
                <a:lnSpc>
                  <a:spcPts val="2760"/>
                </a:lnSpc>
                <a:buFont typeface="Arial"/>
                <a:buChar char="•"/>
              </a:pPr>
              <a:r>
                <a:rPr lang="en-US" sz="2300">
                  <a:solidFill>
                    <a:srgbClr val="1A1A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System audio (muted on launch)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497063" y="2181863"/>
            <a:ext cx="8255003" cy="7340603"/>
            <a:chOff x="0" y="0"/>
            <a:chExt cx="11006671" cy="9787471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1006709" cy="9787509"/>
            </a:xfrm>
            <a:custGeom>
              <a:avLst/>
              <a:gdLst/>
              <a:ahLst/>
              <a:cxnLst/>
              <a:rect l="l" t="t" r="r" b="b"/>
              <a:pathLst>
                <a:path w="11006709" h="9787509">
                  <a:moveTo>
                    <a:pt x="0" y="293624"/>
                  </a:moveTo>
                  <a:cubicBezTo>
                    <a:pt x="0" y="131445"/>
                    <a:pt x="131445" y="0"/>
                    <a:pt x="293624" y="0"/>
                  </a:cubicBezTo>
                  <a:lnTo>
                    <a:pt x="10713085" y="0"/>
                  </a:lnTo>
                  <a:cubicBezTo>
                    <a:pt x="10875264" y="0"/>
                    <a:pt x="11006709" y="131445"/>
                    <a:pt x="11006709" y="293624"/>
                  </a:cubicBezTo>
                  <a:lnTo>
                    <a:pt x="11006709" y="9493885"/>
                  </a:lnTo>
                  <a:cubicBezTo>
                    <a:pt x="11006709" y="9656064"/>
                    <a:pt x="10875264" y="9787509"/>
                    <a:pt x="10713085" y="9787509"/>
                  </a:cubicBezTo>
                  <a:lnTo>
                    <a:pt x="293624" y="9787509"/>
                  </a:lnTo>
                  <a:cubicBezTo>
                    <a:pt x="131445" y="9787509"/>
                    <a:pt x="0" y="9656064"/>
                    <a:pt x="0" y="9493885"/>
                  </a:cubicBezTo>
                  <a:close/>
                </a:path>
              </a:pathLst>
            </a:custGeom>
            <a:solidFill>
              <a:srgbClr val="EFF6FF"/>
            </a:solidFill>
            <a:ln w="25400" cap="sq">
              <a:solidFill>
                <a:srgbClr val="BFDBFE"/>
              </a:solidFill>
              <a:prstDash val="solid"/>
              <a:miter/>
            </a:ln>
          </p:spPr>
        </p:sp>
      </p:grpSp>
      <p:grpSp>
        <p:nvGrpSpPr>
          <p:cNvPr id="35" name="Group 35"/>
          <p:cNvGrpSpPr/>
          <p:nvPr/>
        </p:nvGrpSpPr>
        <p:grpSpPr>
          <a:xfrm>
            <a:off x="9875520" y="2468880"/>
            <a:ext cx="7498080" cy="731520"/>
            <a:chOff x="0" y="0"/>
            <a:chExt cx="9997440" cy="97536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9997440" cy="975360"/>
            </a:xfrm>
            <a:custGeom>
              <a:avLst/>
              <a:gdLst/>
              <a:ahLst/>
              <a:cxnLst/>
              <a:rect l="l" t="t" r="r" b="b"/>
              <a:pathLst>
                <a:path w="9997440" h="975360">
                  <a:moveTo>
                    <a:pt x="0" y="0"/>
                  </a:moveTo>
                  <a:lnTo>
                    <a:pt x="9997440" y="0"/>
                  </a:lnTo>
                  <a:lnTo>
                    <a:pt x="999744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49721" b="-149721"/>
              </a:stretch>
            </a:blipFill>
          </p:spPr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9997440" cy="10325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2563E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How It Works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771383" y="3425447"/>
            <a:ext cx="610619" cy="610619"/>
            <a:chOff x="0" y="0"/>
            <a:chExt cx="814159" cy="814159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814197" cy="814197"/>
            </a:xfrm>
            <a:custGeom>
              <a:avLst/>
              <a:gdLst/>
              <a:ahLst/>
              <a:cxnLst/>
              <a:rect l="l" t="t" r="r" b="b"/>
              <a:pathLst>
                <a:path w="814197" h="814197">
                  <a:moveTo>
                    <a:pt x="0" y="407035"/>
                  </a:moveTo>
                  <a:cubicBezTo>
                    <a:pt x="0" y="182245"/>
                    <a:pt x="182245" y="0"/>
                    <a:pt x="407035" y="0"/>
                  </a:cubicBezTo>
                  <a:cubicBezTo>
                    <a:pt x="631825" y="0"/>
                    <a:pt x="814197" y="182245"/>
                    <a:pt x="814197" y="407035"/>
                  </a:cubicBezTo>
                  <a:cubicBezTo>
                    <a:pt x="814197" y="631825"/>
                    <a:pt x="631952" y="814197"/>
                    <a:pt x="407035" y="814197"/>
                  </a:cubicBezTo>
                  <a:cubicBezTo>
                    <a:pt x="182118" y="814197"/>
                    <a:pt x="0" y="631952"/>
                    <a:pt x="0" y="407035"/>
                  </a:cubicBezTo>
                  <a:close/>
                </a:path>
              </a:pathLst>
            </a:custGeom>
            <a:solidFill>
              <a:srgbClr val="2563EB"/>
            </a:solidFill>
            <a:ln w="25400" cap="sq">
              <a:solidFill>
                <a:srgbClr val="2563EB"/>
              </a:solidFill>
              <a:prstDash val="solid"/>
              <a:miter/>
            </a:ln>
          </p:spPr>
        </p:sp>
      </p:grpSp>
      <p:grpSp>
        <p:nvGrpSpPr>
          <p:cNvPr id="40" name="Group 40"/>
          <p:cNvGrpSpPr/>
          <p:nvPr/>
        </p:nvGrpSpPr>
        <p:grpSpPr>
          <a:xfrm>
            <a:off x="9784080" y="3438144"/>
            <a:ext cx="585216" cy="585216"/>
            <a:chOff x="0" y="0"/>
            <a:chExt cx="780288" cy="780288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780288" cy="780288"/>
            </a:xfrm>
            <a:custGeom>
              <a:avLst/>
              <a:gdLst/>
              <a:ahLst/>
              <a:cxnLst/>
              <a:rect l="l" t="t" r="r" b="b"/>
              <a:pathLst>
                <a:path w="780288" h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42" name="TextBox 42"/>
            <p:cNvSpPr txBox="1"/>
            <p:nvPr/>
          </p:nvSpPr>
          <p:spPr>
            <a:xfrm>
              <a:off x="0" y="-38100"/>
              <a:ext cx="780288" cy="818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0515600" y="3438144"/>
            <a:ext cx="6858000" cy="822960"/>
            <a:chOff x="0" y="0"/>
            <a:chExt cx="9144000" cy="109728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9144000" cy="1097280"/>
            </a:xfrm>
            <a:custGeom>
              <a:avLst/>
              <a:gdLst/>
              <a:ahLst/>
              <a:cxnLst/>
              <a:rect l="l" t="t" r="r" b="b"/>
              <a:pathLst>
                <a:path w="9144000" h="1097280">
                  <a:moveTo>
                    <a:pt x="0" y="0"/>
                  </a:moveTo>
                  <a:lnTo>
                    <a:pt x="9144000" y="0"/>
                  </a:lnTo>
                  <a:lnTo>
                    <a:pt x="91440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2375" b="-112375"/>
              </a:stretch>
            </a:blipFill>
          </p:spPr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9144000" cy="11449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1A1A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student starts their exam session → lockdown activates simultaneously on their machines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9771383" y="4412999"/>
            <a:ext cx="610619" cy="610619"/>
            <a:chOff x="0" y="0"/>
            <a:chExt cx="814159" cy="81415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4197" cy="814197"/>
            </a:xfrm>
            <a:custGeom>
              <a:avLst/>
              <a:gdLst/>
              <a:ahLst/>
              <a:cxnLst/>
              <a:rect l="l" t="t" r="r" b="b"/>
              <a:pathLst>
                <a:path w="814197" h="814197">
                  <a:moveTo>
                    <a:pt x="0" y="407035"/>
                  </a:moveTo>
                  <a:cubicBezTo>
                    <a:pt x="0" y="182245"/>
                    <a:pt x="182245" y="0"/>
                    <a:pt x="407035" y="0"/>
                  </a:cubicBezTo>
                  <a:cubicBezTo>
                    <a:pt x="631825" y="0"/>
                    <a:pt x="814197" y="182245"/>
                    <a:pt x="814197" y="407035"/>
                  </a:cubicBezTo>
                  <a:cubicBezTo>
                    <a:pt x="814197" y="631825"/>
                    <a:pt x="631952" y="814197"/>
                    <a:pt x="407035" y="814197"/>
                  </a:cubicBezTo>
                  <a:cubicBezTo>
                    <a:pt x="182118" y="814197"/>
                    <a:pt x="0" y="631952"/>
                    <a:pt x="0" y="407035"/>
                  </a:cubicBezTo>
                  <a:close/>
                </a:path>
              </a:pathLst>
            </a:custGeom>
            <a:solidFill>
              <a:srgbClr val="2563EB"/>
            </a:solidFill>
            <a:ln w="25400" cap="sq">
              <a:solidFill>
                <a:srgbClr val="2563EB"/>
              </a:solidFill>
              <a:prstDash val="solid"/>
              <a:miter/>
            </a:ln>
          </p:spPr>
        </p:sp>
      </p:grpSp>
      <p:grpSp>
        <p:nvGrpSpPr>
          <p:cNvPr id="48" name="Group 48"/>
          <p:cNvGrpSpPr/>
          <p:nvPr/>
        </p:nvGrpSpPr>
        <p:grpSpPr>
          <a:xfrm>
            <a:off x="9784080" y="4425696"/>
            <a:ext cx="585216" cy="585216"/>
            <a:chOff x="0" y="0"/>
            <a:chExt cx="780288" cy="780288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780288" cy="780288"/>
            </a:xfrm>
            <a:custGeom>
              <a:avLst/>
              <a:gdLst/>
              <a:ahLst/>
              <a:cxnLst/>
              <a:rect l="l" t="t" r="r" b="b"/>
              <a:pathLst>
                <a:path w="780288" h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50" name="TextBox 50"/>
            <p:cNvSpPr txBox="1"/>
            <p:nvPr/>
          </p:nvSpPr>
          <p:spPr>
            <a:xfrm>
              <a:off x="0" y="-38100"/>
              <a:ext cx="780288" cy="818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0515600" y="4425696"/>
            <a:ext cx="6858000" cy="822960"/>
            <a:chOff x="0" y="0"/>
            <a:chExt cx="9144000" cy="109728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9144000" cy="1097280"/>
            </a:xfrm>
            <a:custGeom>
              <a:avLst/>
              <a:gdLst/>
              <a:ahLst/>
              <a:cxnLst/>
              <a:rect l="l" t="t" r="r" b="b"/>
              <a:pathLst>
                <a:path w="9144000" h="1097280">
                  <a:moveTo>
                    <a:pt x="0" y="0"/>
                  </a:moveTo>
                  <a:lnTo>
                    <a:pt x="9144000" y="0"/>
                  </a:lnTo>
                  <a:lnTo>
                    <a:pt x="91440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2375" b="-112375"/>
              </a:stretch>
            </a:blipFill>
          </p:spPr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9144000" cy="11449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1A1A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SetWindowsHookEx (WH_KEYBOARD_LL) intercepts OS-level keyboard input in Ring 3 userspace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9771383" y="5400551"/>
            <a:ext cx="610619" cy="610619"/>
            <a:chOff x="0" y="0"/>
            <a:chExt cx="814159" cy="81415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814197" cy="814197"/>
            </a:xfrm>
            <a:custGeom>
              <a:avLst/>
              <a:gdLst/>
              <a:ahLst/>
              <a:cxnLst/>
              <a:rect l="l" t="t" r="r" b="b"/>
              <a:pathLst>
                <a:path w="814197" h="814197">
                  <a:moveTo>
                    <a:pt x="0" y="407035"/>
                  </a:moveTo>
                  <a:cubicBezTo>
                    <a:pt x="0" y="182245"/>
                    <a:pt x="182245" y="0"/>
                    <a:pt x="407035" y="0"/>
                  </a:cubicBezTo>
                  <a:cubicBezTo>
                    <a:pt x="631825" y="0"/>
                    <a:pt x="814197" y="182245"/>
                    <a:pt x="814197" y="407035"/>
                  </a:cubicBezTo>
                  <a:cubicBezTo>
                    <a:pt x="814197" y="631825"/>
                    <a:pt x="631952" y="814197"/>
                    <a:pt x="407035" y="814197"/>
                  </a:cubicBezTo>
                  <a:cubicBezTo>
                    <a:pt x="182118" y="814197"/>
                    <a:pt x="0" y="631952"/>
                    <a:pt x="0" y="407035"/>
                  </a:cubicBezTo>
                  <a:close/>
                </a:path>
              </a:pathLst>
            </a:custGeom>
            <a:solidFill>
              <a:srgbClr val="2563EB"/>
            </a:solidFill>
            <a:ln w="25400" cap="sq">
              <a:solidFill>
                <a:srgbClr val="2563EB"/>
              </a:solidFill>
              <a:prstDash val="solid"/>
              <a:miter/>
            </a:ln>
          </p:spPr>
        </p:sp>
      </p:grpSp>
      <p:grpSp>
        <p:nvGrpSpPr>
          <p:cNvPr id="56" name="Group 56"/>
          <p:cNvGrpSpPr/>
          <p:nvPr/>
        </p:nvGrpSpPr>
        <p:grpSpPr>
          <a:xfrm>
            <a:off x="9784080" y="5413248"/>
            <a:ext cx="585216" cy="585216"/>
            <a:chOff x="0" y="0"/>
            <a:chExt cx="780288" cy="780288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780288" cy="780288"/>
            </a:xfrm>
            <a:custGeom>
              <a:avLst/>
              <a:gdLst/>
              <a:ahLst/>
              <a:cxnLst/>
              <a:rect l="l" t="t" r="r" b="b"/>
              <a:pathLst>
                <a:path w="780288" h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58" name="TextBox 58"/>
            <p:cNvSpPr txBox="1"/>
            <p:nvPr/>
          </p:nvSpPr>
          <p:spPr>
            <a:xfrm>
              <a:off x="0" y="-38100"/>
              <a:ext cx="780288" cy="818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10515600" y="5413248"/>
            <a:ext cx="6858000" cy="822960"/>
            <a:chOff x="0" y="0"/>
            <a:chExt cx="9144000" cy="1097280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9144000" cy="1097280"/>
            </a:xfrm>
            <a:custGeom>
              <a:avLst/>
              <a:gdLst/>
              <a:ahLst/>
              <a:cxnLst/>
              <a:rect l="l" t="t" r="r" b="b"/>
              <a:pathLst>
                <a:path w="9144000" h="1097280">
                  <a:moveTo>
                    <a:pt x="0" y="0"/>
                  </a:moveTo>
                  <a:lnTo>
                    <a:pt x="9144000" y="0"/>
                  </a:lnTo>
                  <a:lnTo>
                    <a:pt x="91440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2375" b="-112375"/>
              </a:stretch>
            </a:blipFill>
          </p:spPr>
        </p:sp>
        <p:sp>
          <p:nvSpPr>
            <p:cNvPr id="61" name="TextBox 61"/>
            <p:cNvSpPr txBox="1"/>
            <p:nvPr/>
          </p:nvSpPr>
          <p:spPr>
            <a:xfrm>
              <a:off x="0" y="-47625"/>
              <a:ext cx="9144000" cy="11449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1A1A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Fullscreen always-on-top kiosk window captures focus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9771383" y="6388103"/>
            <a:ext cx="610619" cy="610619"/>
            <a:chOff x="0" y="0"/>
            <a:chExt cx="814159" cy="814159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814197" cy="814197"/>
            </a:xfrm>
            <a:custGeom>
              <a:avLst/>
              <a:gdLst/>
              <a:ahLst/>
              <a:cxnLst/>
              <a:rect l="l" t="t" r="r" b="b"/>
              <a:pathLst>
                <a:path w="814197" h="814197">
                  <a:moveTo>
                    <a:pt x="0" y="407035"/>
                  </a:moveTo>
                  <a:cubicBezTo>
                    <a:pt x="0" y="182245"/>
                    <a:pt x="182245" y="0"/>
                    <a:pt x="407035" y="0"/>
                  </a:cubicBezTo>
                  <a:cubicBezTo>
                    <a:pt x="631825" y="0"/>
                    <a:pt x="814197" y="182245"/>
                    <a:pt x="814197" y="407035"/>
                  </a:cubicBezTo>
                  <a:cubicBezTo>
                    <a:pt x="814197" y="631825"/>
                    <a:pt x="631952" y="814197"/>
                    <a:pt x="407035" y="814197"/>
                  </a:cubicBezTo>
                  <a:cubicBezTo>
                    <a:pt x="182118" y="814197"/>
                    <a:pt x="0" y="631952"/>
                    <a:pt x="0" y="407035"/>
                  </a:cubicBezTo>
                  <a:close/>
                </a:path>
              </a:pathLst>
            </a:custGeom>
            <a:solidFill>
              <a:srgbClr val="2563EB"/>
            </a:solidFill>
            <a:ln w="25400" cap="sq">
              <a:solidFill>
                <a:srgbClr val="2563EB"/>
              </a:solidFill>
              <a:prstDash val="solid"/>
              <a:miter/>
            </a:ln>
          </p:spPr>
        </p:sp>
      </p:grpSp>
      <p:grpSp>
        <p:nvGrpSpPr>
          <p:cNvPr id="64" name="Group 64"/>
          <p:cNvGrpSpPr/>
          <p:nvPr/>
        </p:nvGrpSpPr>
        <p:grpSpPr>
          <a:xfrm>
            <a:off x="9784080" y="6400800"/>
            <a:ext cx="585216" cy="585216"/>
            <a:chOff x="0" y="0"/>
            <a:chExt cx="780288" cy="780288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780288" cy="780288"/>
            </a:xfrm>
            <a:custGeom>
              <a:avLst/>
              <a:gdLst/>
              <a:ahLst/>
              <a:cxnLst/>
              <a:rect l="l" t="t" r="r" b="b"/>
              <a:pathLst>
                <a:path w="780288" h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66" name="TextBox 66"/>
            <p:cNvSpPr txBox="1"/>
            <p:nvPr/>
          </p:nvSpPr>
          <p:spPr>
            <a:xfrm>
              <a:off x="0" y="-38100"/>
              <a:ext cx="780288" cy="818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10515600" y="6400800"/>
            <a:ext cx="6858000" cy="822960"/>
            <a:chOff x="0" y="0"/>
            <a:chExt cx="9144000" cy="1097280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9144000" cy="1097280"/>
            </a:xfrm>
            <a:custGeom>
              <a:avLst/>
              <a:gdLst/>
              <a:ahLst/>
              <a:cxnLst/>
              <a:rect l="l" t="t" r="r" b="b"/>
              <a:pathLst>
                <a:path w="9144000" h="1097280">
                  <a:moveTo>
                    <a:pt x="0" y="0"/>
                  </a:moveTo>
                  <a:lnTo>
                    <a:pt x="9144000" y="0"/>
                  </a:lnTo>
                  <a:lnTo>
                    <a:pt x="91440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2375" b="-112375"/>
              </a:stretch>
            </a:blipFill>
          </p:spPr>
        </p:sp>
        <p:sp>
          <p:nvSpPr>
            <p:cNvPr id="69" name="TextBox 69"/>
            <p:cNvSpPr txBox="1"/>
            <p:nvPr/>
          </p:nvSpPr>
          <p:spPr>
            <a:xfrm>
              <a:off x="0" y="-47625"/>
              <a:ext cx="9144000" cy="11449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1A1A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Active process monitoring flags disallowed apps instantly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9771383" y="7375655"/>
            <a:ext cx="610619" cy="610619"/>
            <a:chOff x="0" y="0"/>
            <a:chExt cx="814159" cy="814159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814197" cy="814197"/>
            </a:xfrm>
            <a:custGeom>
              <a:avLst/>
              <a:gdLst/>
              <a:ahLst/>
              <a:cxnLst/>
              <a:rect l="l" t="t" r="r" b="b"/>
              <a:pathLst>
                <a:path w="814197" h="814197">
                  <a:moveTo>
                    <a:pt x="0" y="407035"/>
                  </a:moveTo>
                  <a:cubicBezTo>
                    <a:pt x="0" y="182245"/>
                    <a:pt x="182245" y="0"/>
                    <a:pt x="407035" y="0"/>
                  </a:cubicBezTo>
                  <a:cubicBezTo>
                    <a:pt x="631825" y="0"/>
                    <a:pt x="814197" y="182245"/>
                    <a:pt x="814197" y="407035"/>
                  </a:cubicBezTo>
                  <a:cubicBezTo>
                    <a:pt x="814197" y="631825"/>
                    <a:pt x="631952" y="814197"/>
                    <a:pt x="407035" y="814197"/>
                  </a:cubicBezTo>
                  <a:cubicBezTo>
                    <a:pt x="182118" y="814197"/>
                    <a:pt x="0" y="631952"/>
                    <a:pt x="0" y="407035"/>
                  </a:cubicBezTo>
                  <a:close/>
                </a:path>
              </a:pathLst>
            </a:custGeom>
            <a:solidFill>
              <a:srgbClr val="2563EB"/>
            </a:solidFill>
            <a:ln w="25400" cap="sq">
              <a:solidFill>
                <a:srgbClr val="2563EB"/>
              </a:solidFill>
              <a:prstDash val="solid"/>
              <a:miter/>
            </a:ln>
          </p:spPr>
        </p:sp>
      </p:grpSp>
      <p:grpSp>
        <p:nvGrpSpPr>
          <p:cNvPr id="72" name="Group 72"/>
          <p:cNvGrpSpPr/>
          <p:nvPr/>
        </p:nvGrpSpPr>
        <p:grpSpPr>
          <a:xfrm>
            <a:off x="9784080" y="7388352"/>
            <a:ext cx="585216" cy="585216"/>
            <a:chOff x="0" y="0"/>
            <a:chExt cx="780288" cy="780288"/>
          </a:xfrm>
        </p:grpSpPr>
        <p:sp>
          <p:nvSpPr>
            <p:cNvPr id="73" name="Freeform 73"/>
            <p:cNvSpPr/>
            <p:nvPr/>
          </p:nvSpPr>
          <p:spPr>
            <a:xfrm>
              <a:off x="0" y="0"/>
              <a:ext cx="780288" cy="780288"/>
            </a:xfrm>
            <a:custGeom>
              <a:avLst/>
              <a:gdLst/>
              <a:ahLst/>
              <a:cxnLst/>
              <a:rect l="l" t="t" r="r" b="b"/>
              <a:pathLst>
                <a:path w="780288" h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74" name="TextBox 74"/>
            <p:cNvSpPr txBox="1"/>
            <p:nvPr/>
          </p:nvSpPr>
          <p:spPr>
            <a:xfrm>
              <a:off x="0" y="-38100"/>
              <a:ext cx="780288" cy="818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10515600" y="7388352"/>
            <a:ext cx="6858000" cy="822960"/>
            <a:chOff x="0" y="0"/>
            <a:chExt cx="9144000" cy="1097280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9144000" cy="1097280"/>
            </a:xfrm>
            <a:custGeom>
              <a:avLst/>
              <a:gdLst/>
              <a:ahLst/>
              <a:cxnLst/>
              <a:rect l="l" t="t" r="r" b="b"/>
              <a:pathLst>
                <a:path w="9144000" h="1097280">
                  <a:moveTo>
                    <a:pt x="0" y="0"/>
                  </a:moveTo>
                  <a:lnTo>
                    <a:pt x="9144000" y="0"/>
                  </a:lnTo>
                  <a:lnTo>
                    <a:pt x="91440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2375" b="-112375"/>
              </a:stretch>
            </a:blipFill>
          </p:spPr>
        </p:sp>
        <p:sp>
          <p:nvSpPr>
            <p:cNvPr id="77" name="TextBox 77"/>
            <p:cNvSpPr txBox="1"/>
            <p:nvPr/>
          </p:nvSpPr>
          <p:spPr>
            <a:xfrm>
              <a:off x="0" y="-47625"/>
              <a:ext cx="9144000" cy="11449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1A1A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Bypass attempts silently logged with timestamps on teacher dashboard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9771383" y="8363207"/>
            <a:ext cx="610619" cy="610619"/>
            <a:chOff x="0" y="0"/>
            <a:chExt cx="814159" cy="814159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814197" cy="814197"/>
            </a:xfrm>
            <a:custGeom>
              <a:avLst/>
              <a:gdLst/>
              <a:ahLst/>
              <a:cxnLst/>
              <a:rect l="l" t="t" r="r" b="b"/>
              <a:pathLst>
                <a:path w="814197" h="814197">
                  <a:moveTo>
                    <a:pt x="0" y="407035"/>
                  </a:moveTo>
                  <a:cubicBezTo>
                    <a:pt x="0" y="182245"/>
                    <a:pt x="182245" y="0"/>
                    <a:pt x="407035" y="0"/>
                  </a:cubicBezTo>
                  <a:cubicBezTo>
                    <a:pt x="631825" y="0"/>
                    <a:pt x="814197" y="182245"/>
                    <a:pt x="814197" y="407035"/>
                  </a:cubicBezTo>
                  <a:cubicBezTo>
                    <a:pt x="814197" y="631825"/>
                    <a:pt x="631952" y="814197"/>
                    <a:pt x="407035" y="814197"/>
                  </a:cubicBezTo>
                  <a:cubicBezTo>
                    <a:pt x="182118" y="814197"/>
                    <a:pt x="0" y="631952"/>
                    <a:pt x="0" y="407035"/>
                  </a:cubicBezTo>
                  <a:close/>
                </a:path>
              </a:pathLst>
            </a:custGeom>
            <a:solidFill>
              <a:srgbClr val="2563EB"/>
            </a:solidFill>
            <a:ln w="25400" cap="sq">
              <a:solidFill>
                <a:srgbClr val="2563EB"/>
              </a:solidFill>
              <a:prstDash val="solid"/>
              <a:miter/>
            </a:ln>
          </p:spPr>
        </p:sp>
      </p:grpSp>
      <p:grpSp>
        <p:nvGrpSpPr>
          <p:cNvPr id="80" name="Group 80"/>
          <p:cNvGrpSpPr/>
          <p:nvPr/>
        </p:nvGrpSpPr>
        <p:grpSpPr>
          <a:xfrm>
            <a:off x="9784080" y="8375904"/>
            <a:ext cx="585216" cy="585216"/>
            <a:chOff x="0" y="0"/>
            <a:chExt cx="780288" cy="780288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780288" cy="780288"/>
            </a:xfrm>
            <a:custGeom>
              <a:avLst/>
              <a:gdLst/>
              <a:ahLst/>
              <a:cxnLst/>
              <a:rect l="l" t="t" r="r" b="b"/>
              <a:pathLst>
                <a:path w="780288" h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82" name="TextBox 82"/>
            <p:cNvSpPr txBox="1"/>
            <p:nvPr/>
          </p:nvSpPr>
          <p:spPr>
            <a:xfrm>
              <a:off x="0" y="-38100"/>
              <a:ext cx="780288" cy="818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10515600" y="8375904"/>
            <a:ext cx="6858000" cy="822960"/>
            <a:chOff x="0" y="0"/>
            <a:chExt cx="9144000" cy="1097280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9144000" cy="1097280"/>
            </a:xfrm>
            <a:custGeom>
              <a:avLst/>
              <a:gdLst/>
              <a:ahLst/>
              <a:cxnLst/>
              <a:rect l="l" t="t" r="r" b="b"/>
              <a:pathLst>
                <a:path w="9144000" h="1097280">
                  <a:moveTo>
                    <a:pt x="0" y="0"/>
                  </a:moveTo>
                  <a:lnTo>
                    <a:pt x="9144000" y="0"/>
                  </a:lnTo>
                  <a:lnTo>
                    <a:pt x="91440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2375" b="-112375"/>
              </a:stretch>
            </a:blipFill>
          </p:spPr>
        </p:sp>
        <p:sp>
          <p:nvSpPr>
            <p:cNvPr id="85" name="TextBox 85"/>
            <p:cNvSpPr txBox="1"/>
            <p:nvPr/>
          </p:nvSpPr>
          <p:spPr>
            <a:xfrm>
              <a:off x="0" y="-47625"/>
              <a:ext cx="9144000" cy="11449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1A1A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Lockdown released only when teacher explicitly ends the session or when student enters exit code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48640"/>
            <a:ext cx="16459200" cy="1280160"/>
            <a:chOff x="0" y="0"/>
            <a:chExt cx="21945600" cy="17068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706880"/>
            </a:xfrm>
            <a:custGeom>
              <a:avLst/>
              <a:gdLst/>
              <a:ahLst/>
              <a:cxnLst/>
              <a:rect l="l" t="t" r="r" b="b"/>
              <a:pathLst>
                <a:path w="21945600" h="1706880">
                  <a:moveTo>
                    <a:pt x="0" y="0"/>
                  </a:moveTo>
                  <a:lnTo>
                    <a:pt x="21945600" y="0"/>
                  </a:lnTo>
                  <a:lnTo>
                    <a:pt x="2194560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00521" b="-200521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123825"/>
              <a:ext cx="21945600" cy="18307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680"/>
                </a:lnSpc>
              </a:pPr>
              <a:r>
                <a:rPr lang="en-US" sz="6400" b="1">
                  <a:solidFill>
                    <a:srgbClr val="1A1A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Assessment Engine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01703" y="1962407"/>
            <a:ext cx="16484603" cy="98555"/>
            <a:chOff x="0" y="0"/>
            <a:chExt cx="21979471" cy="1314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79510" cy="131445"/>
            </a:xfrm>
            <a:custGeom>
              <a:avLst/>
              <a:gdLst/>
              <a:ahLst/>
              <a:cxnLst/>
              <a:rect l="l" t="t" r="r" b="b"/>
              <a:pathLst>
                <a:path w="21979510" h="131445">
                  <a:moveTo>
                    <a:pt x="0" y="0"/>
                  </a:moveTo>
                  <a:lnTo>
                    <a:pt x="21979510" y="0"/>
                  </a:lnTo>
                  <a:lnTo>
                    <a:pt x="21979510" y="131445"/>
                  </a:lnTo>
                  <a:lnTo>
                    <a:pt x="0" y="131445"/>
                  </a:lnTo>
                  <a:close/>
                </a:path>
              </a:pathLst>
            </a:custGeom>
            <a:solidFill>
              <a:srgbClr val="E5E7EB"/>
            </a:solidFill>
            <a:ln w="25400" cap="sq">
              <a:solidFill>
                <a:srgbClr val="E5E7EB"/>
              </a:solidFill>
              <a:prstDash val="solid"/>
              <a:miter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627383" y="2273303"/>
            <a:ext cx="5328923" cy="3134363"/>
            <a:chOff x="0" y="0"/>
            <a:chExt cx="7105231" cy="417915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105269" cy="4179189"/>
            </a:xfrm>
            <a:custGeom>
              <a:avLst/>
              <a:gdLst/>
              <a:ahLst/>
              <a:cxnLst/>
              <a:rect l="l" t="t" r="r" b="b"/>
              <a:pathLst>
                <a:path w="7105269" h="4179189">
                  <a:moveTo>
                    <a:pt x="0" y="295021"/>
                  </a:moveTo>
                  <a:cubicBezTo>
                    <a:pt x="0" y="132080"/>
                    <a:pt x="132080" y="0"/>
                    <a:pt x="295021" y="0"/>
                  </a:cubicBezTo>
                  <a:lnTo>
                    <a:pt x="6810248" y="0"/>
                  </a:lnTo>
                  <a:cubicBezTo>
                    <a:pt x="6973189" y="0"/>
                    <a:pt x="7105269" y="132080"/>
                    <a:pt x="7105269" y="295021"/>
                  </a:cubicBezTo>
                  <a:lnTo>
                    <a:pt x="7105269" y="3884168"/>
                  </a:lnTo>
                  <a:cubicBezTo>
                    <a:pt x="7105269" y="4047109"/>
                    <a:pt x="6973189" y="4179189"/>
                    <a:pt x="6810248" y="4179189"/>
                  </a:cubicBezTo>
                  <a:lnTo>
                    <a:pt x="295021" y="4179189"/>
                  </a:lnTo>
                  <a:cubicBezTo>
                    <a:pt x="132080" y="4179189"/>
                    <a:pt x="0" y="4047109"/>
                    <a:pt x="0" y="3884168"/>
                  </a:cubicBezTo>
                  <a:close/>
                </a:path>
              </a:pathLst>
            </a:custGeom>
            <a:solidFill>
              <a:srgbClr val="DBEAFE"/>
            </a:solidFill>
            <a:ln w="25400" cap="sq">
              <a:solidFill>
                <a:srgbClr val="93C5FD"/>
              </a:solidFill>
              <a:prstDash val="solid"/>
              <a:miter/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901703" y="2547623"/>
            <a:ext cx="793499" cy="793499"/>
            <a:chOff x="0" y="0"/>
            <a:chExt cx="1057999" cy="10579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58037" cy="1058037"/>
            </a:xfrm>
            <a:custGeom>
              <a:avLst/>
              <a:gdLst/>
              <a:ahLst/>
              <a:cxnLst/>
              <a:rect l="l" t="t" r="r" b="b"/>
              <a:pathLst>
                <a:path w="1058037" h="1058037">
                  <a:moveTo>
                    <a:pt x="0" y="528955"/>
                  </a:moveTo>
                  <a:cubicBezTo>
                    <a:pt x="0" y="236855"/>
                    <a:pt x="236855" y="0"/>
                    <a:pt x="528955" y="0"/>
                  </a:cubicBezTo>
                  <a:cubicBezTo>
                    <a:pt x="821055" y="0"/>
                    <a:pt x="1058037" y="236855"/>
                    <a:pt x="1058037" y="528955"/>
                  </a:cubicBezTo>
                  <a:cubicBezTo>
                    <a:pt x="1058037" y="821055"/>
                    <a:pt x="821182" y="1058037"/>
                    <a:pt x="528955" y="1058037"/>
                  </a:cubicBezTo>
                  <a:cubicBezTo>
                    <a:pt x="236728" y="1058037"/>
                    <a:pt x="0" y="821182"/>
                    <a:pt x="0" y="528955"/>
                  </a:cubicBezTo>
                  <a:close/>
                </a:path>
              </a:pathLst>
            </a:custGeom>
            <a:solidFill>
              <a:srgbClr val="93C5FD"/>
            </a:solidFill>
            <a:ln w="25400" cap="sq">
              <a:solidFill>
                <a:srgbClr val="93C5FD"/>
              </a:solidFill>
              <a:prstDash val="solid"/>
              <a:miter/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914400" y="2560320"/>
            <a:ext cx="768096" cy="768096"/>
            <a:chOff x="0" y="0"/>
            <a:chExt cx="1024128" cy="102412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24128" cy="1024128"/>
            </a:xfrm>
            <a:custGeom>
              <a:avLst/>
              <a:gdLst/>
              <a:ahLst/>
              <a:cxnLst/>
              <a:rect l="l" t="t" r="r" b="b"/>
              <a:pathLst>
                <a:path w="1024128" h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024128" cy="10717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14400" y="3529584"/>
            <a:ext cx="4754880" cy="822960"/>
            <a:chOff x="0" y="0"/>
            <a:chExt cx="6339840" cy="109728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39840" cy="1097280"/>
            </a:xfrm>
            <a:custGeom>
              <a:avLst/>
              <a:gdLst/>
              <a:ahLst/>
              <a:cxnLst/>
              <a:rect l="l" t="t" r="r" b="b"/>
              <a:pathLst>
                <a:path w="6339840" h="1097280">
                  <a:moveTo>
                    <a:pt x="0" y="0"/>
                  </a:moveTo>
                  <a:lnTo>
                    <a:pt x="6339840" y="0"/>
                  </a:lnTo>
                  <a:lnTo>
                    <a:pt x="633984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2580" b="-62580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6339840" cy="11449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99"/>
                </a:lnSpc>
              </a:pPr>
              <a:r>
                <a:rPr lang="en-US" sz="2499" b="1">
                  <a:solidFill>
                    <a:srgbClr val="1A1A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Student Writes Code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14400" y="4389120"/>
            <a:ext cx="4754880" cy="731520"/>
            <a:chOff x="0" y="0"/>
            <a:chExt cx="6339840" cy="97536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39840" cy="975360"/>
            </a:xfrm>
            <a:custGeom>
              <a:avLst/>
              <a:gdLst/>
              <a:ahLst/>
              <a:cxnLst/>
              <a:rect l="l" t="t" r="r" b="b"/>
              <a:pathLst>
                <a:path w="6339840" h="975360">
                  <a:moveTo>
                    <a:pt x="0" y="0"/>
                  </a:moveTo>
                  <a:lnTo>
                    <a:pt x="6339840" y="0"/>
                  </a:lnTo>
                  <a:lnTo>
                    <a:pt x="633984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6652" b="-76652"/>
              </a:stretch>
            </a:blipFill>
          </p:spPr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6339840" cy="10229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Monaco Editor (VS Code engine)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924550" y="3821430"/>
            <a:ext cx="495300" cy="38100"/>
            <a:chOff x="0" y="0"/>
            <a:chExt cx="660400" cy="50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60400" cy="50800"/>
            </a:xfrm>
            <a:custGeom>
              <a:avLst/>
              <a:gdLst/>
              <a:ahLst/>
              <a:cxnLst/>
              <a:rect l="l" t="t" r="r" b="b"/>
              <a:pathLst>
                <a:path w="660400" h="50800">
                  <a:moveTo>
                    <a:pt x="0" y="0"/>
                  </a:moveTo>
                  <a:lnTo>
                    <a:pt x="660400" y="508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t="-203305" b="-203305"/>
              </a:stretch>
            </a:blipFill>
            <a:ln w="38100" cap="sq">
              <a:solidFill>
                <a:srgbClr val="6B7280"/>
              </a:solidFill>
              <a:prstDash val="solid"/>
              <a:miter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12145647" y="2292348"/>
            <a:ext cx="5328923" cy="3134363"/>
            <a:chOff x="0" y="0"/>
            <a:chExt cx="7105231" cy="4179151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0"/>
              <a:ext cx="7105231" cy="4179151"/>
              <a:chOff x="0" y="0"/>
              <a:chExt cx="7105231" cy="4179151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7105269" cy="4179189"/>
              </a:xfrm>
              <a:custGeom>
                <a:avLst/>
                <a:gdLst/>
                <a:ahLst/>
                <a:cxnLst/>
                <a:rect l="l" t="t" r="r" b="b"/>
                <a:pathLst>
                  <a:path w="7105269" h="4179189">
                    <a:moveTo>
                      <a:pt x="0" y="295021"/>
                    </a:moveTo>
                    <a:cubicBezTo>
                      <a:pt x="0" y="132080"/>
                      <a:pt x="132080" y="0"/>
                      <a:pt x="295021" y="0"/>
                    </a:cubicBezTo>
                    <a:lnTo>
                      <a:pt x="6810248" y="0"/>
                    </a:lnTo>
                    <a:cubicBezTo>
                      <a:pt x="6973189" y="0"/>
                      <a:pt x="7105269" y="132080"/>
                      <a:pt x="7105269" y="295021"/>
                    </a:cubicBezTo>
                    <a:lnTo>
                      <a:pt x="7105269" y="3884168"/>
                    </a:lnTo>
                    <a:cubicBezTo>
                      <a:pt x="7105269" y="4047109"/>
                      <a:pt x="6973189" y="4179189"/>
                      <a:pt x="6810248" y="4179189"/>
                    </a:cubicBezTo>
                    <a:lnTo>
                      <a:pt x="295021" y="4179189"/>
                    </a:lnTo>
                    <a:cubicBezTo>
                      <a:pt x="132080" y="4179189"/>
                      <a:pt x="0" y="4047109"/>
                      <a:pt x="0" y="3884168"/>
                    </a:cubicBezTo>
                    <a:close/>
                  </a:path>
                </a:pathLst>
              </a:custGeom>
              <a:solidFill>
                <a:srgbClr val="FEF9C3"/>
              </a:solidFill>
              <a:ln w="25400" cap="sq">
                <a:solidFill>
                  <a:srgbClr val="FDE047"/>
                </a:solidFill>
                <a:prstDash val="solid"/>
                <a:miter/>
              </a:ln>
            </p:spPr>
          </p:sp>
        </p:grpSp>
        <p:grpSp>
          <p:nvGrpSpPr>
            <p:cNvPr id="25" name="Group 25"/>
            <p:cNvGrpSpPr/>
            <p:nvPr/>
          </p:nvGrpSpPr>
          <p:grpSpPr>
            <a:xfrm>
              <a:off x="365760" y="365760"/>
              <a:ext cx="1057999" cy="1057999"/>
              <a:chOff x="0" y="0"/>
              <a:chExt cx="1057999" cy="1057999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058037" cy="1058037"/>
              </a:xfrm>
              <a:custGeom>
                <a:avLst/>
                <a:gdLst/>
                <a:ahLst/>
                <a:cxnLst/>
                <a:rect l="l" t="t" r="r" b="b"/>
                <a:pathLst>
                  <a:path w="1058037" h="1058037">
                    <a:moveTo>
                      <a:pt x="0" y="528955"/>
                    </a:moveTo>
                    <a:cubicBezTo>
                      <a:pt x="0" y="236855"/>
                      <a:pt x="236855" y="0"/>
                      <a:pt x="528955" y="0"/>
                    </a:cubicBezTo>
                    <a:cubicBezTo>
                      <a:pt x="821055" y="0"/>
                      <a:pt x="1058037" y="236855"/>
                      <a:pt x="1058037" y="528955"/>
                    </a:cubicBezTo>
                    <a:cubicBezTo>
                      <a:pt x="1058037" y="821055"/>
                      <a:pt x="821182" y="1058037"/>
                      <a:pt x="528955" y="1058037"/>
                    </a:cubicBezTo>
                    <a:cubicBezTo>
                      <a:pt x="236728" y="1058037"/>
                      <a:pt x="0" y="821182"/>
                      <a:pt x="0" y="528955"/>
                    </a:cubicBezTo>
                    <a:close/>
                  </a:path>
                </a:pathLst>
              </a:custGeom>
              <a:solidFill>
                <a:srgbClr val="FDE047"/>
              </a:solidFill>
              <a:ln w="25400" cap="sq">
                <a:solidFill>
                  <a:srgbClr val="FDE047"/>
                </a:solidFill>
                <a:prstDash val="solid"/>
                <a:miter/>
              </a:ln>
            </p:spPr>
          </p:sp>
        </p:grpSp>
        <p:grpSp>
          <p:nvGrpSpPr>
            <p:cNvPr id="27" name="Group 27"/>
            <p:cNvGrpSpPr/>
            <p:nvPr/>
          </p:nvGrpSpPr>
          <p:grpSpPr>
            <a:xfrm>
              <a:off x="382689" y="382689"/>
              <a:ext cx="1024128" cy="1024128"/>
              <a:chOff x="0" y="0"/>
              <a:chExt cx="1024128" cy="1024128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1024128" cy="1024128"/>
              </a:xfrm>
              <a:custGeom>
                <a:avLst/>
                <a:gdLst/>
                <a:ahLst/>
                <a:cxnLst/>
                <a:rect l="l" t="t" r="r" b="b"/>
                <a:pathLst>
                  <a:path w="1024128" h="1024128">
                    <a:moveTo>
                      <a:pt x="0" y="0"/>
                    </a:moveTo>
                    <a:lnTo>
                      <a:pt x="1024128" y="0"/>
                    </a:lnTo>
                    <a:lnTo>
                      <a:pt x="1024128" y="1024128"/>
                    </a:lnTo>
                    <a:lnTo>
                      <a:pt x="0" y="102412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-78303" r="-78303"/>
                </a:stretch>
              </a:blipFill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0" y="-47625"/>
                <a:ext cx="1024128" cy="1071753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359"/>
                  </a:lnSpc>
                </a:pPr>
                <a:r>
                  <a:rPr lang="en-US" sz="2799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3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382689" y="1675041"/>
              <a:ext cx="6339840" cy="1097280"/>
              <a:chOff x="0" y="0"/>
              <a:chExt cx="6339840" cy="109728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633984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6339840" h="1097280">
                    <a:moveTo>
                      <a:pt x="0" y="0"/>
                    </a:moveTo>
                    <a:lnTo>
                      <a:pt x="6339840" y="0"/>
                    </a:lnTo>
                    <a:lnTo>
                      <a:pt x="633984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2580" b="-62580"/>
                </a:stretch>
              </a:blipFill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6339840" cy="11449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999"/>
                  </a:lnSpc>
                </a:pPr>
                <a:r>
                  <a:rPr lang="en-US" sz="2499" b="1">
                    <a:solidFill>
                      <a:srgbClr val="1A1A2E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Checks Against Samples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382689" y="2821089"/>
              <a:ext cx="6339840" cy="975360"/>
              <a:chOff x="0" y="0"/>
              <a:chExt cx="6339840" cy="97536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6339840" cy="975360"/>
              </a:xfrm>
              <a:custGeom>
                <a:avLst/>
                <a:gdLst/>
                <a:ahLst/>
                <a:cxnLst/>
                <a:rect l="l" t="t" r="r" b="b"/>
                <a:pathLst>
                  <a:path w="6339840" h="975360">
                    <a:moveTo>
                      <a:pt x="0" y="0"/>
                    </a:moveTo>
                    <a:lnTo>
                      <a:pt x="6339840" y="0"/>
                    </a:lnTo>
                    <a:lnTo>
                      <a:pt x="6339840" y="975360"/>
                    </a:lnTo>
                    <a:lnTo>
                      <a:pt x="0" y="975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76652" b="-76652"/>
                </a:stretch>
              </a:blipFill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6339840" cy="10229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520"/>
                  </a:lnSpc>
                </a:pPr>
                <a:r>
                  <a:rPr lang="en-US" sz="2100">
                    <a:solidFill>
                      <a:srgbClr val="6B728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Visible test cases before submit</a:t>
                </a:r>
              </a:p>
            </p:txBody>
          </p:sp>
        </p:grpSp>
      </p:grpSp>
      <p:grpSp>
        <p:nvGrpSpPr>
          <p:cNvPr id="36" name="Group 36"/>
          <p:cNvGrpSpPr/>
          <p:nvPr/>
        </p:nvGrpSpPr>
        <p:grpSpPr>
          <a:xfrm>
            <a:off x="11685270" y="3821430"/>
            <a:ext cx="495300" cy="38100"/>
            <a:chOff x="0" y="0"/>
            <a:chExt cx="660400" cy="508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660400" cy="50800"/>
            </a:xfrm>
            <a:custGeom>
              <a:avLst/>
              <a:gdLst/>
              <a:ahLst/>
              <a:cxnLst/>
              <a:rect l="l" t="t" r="r" b="b"/>
              <a:pathLst>
                <a:path w="660400" h="50800">
                  <a:moveTo>
                    <a:pt x="0" y="0"/>
                  </a:moveTo>
                  <a:lnTo>
                    <a:pt x="660400" y="508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t="-203305" b="-203305"/>
              </a:stretch>
            </a:blipFill>
            <a:ln w="38100" cap="sq">
              <a:solidFill>
                <a:srgbClr val="6B7280"/>
              </a:solidFill>
              <a:prstDash val="solid"/>
              <a:miter/>
            </a:ln>
          </p:spPr>
        </p:sp>
      </p:grpSp>
      <p:grpSp>
        <p:nvGrpSpPr>
          <p:cNvPr id="38" name="Group 38"/>
          <p:cNvGrpSpPr/>
          <p:nvPr/>
        </p:nvGrpSpPr>
        <p:grpSpPr>
          <a:xfrm>
            <a:off x="6419850" y="6122922"/>
            <a:ext cx="5328923" cy="3134363"/>
            <a:chOff x="0" y="0"/>
            <a:chExt cx="7105231" cy="4179151"/>
          </a:xfrm>
        </p:grpSpPr>
        <p:grpSp>
          <p:nvGrpSpPr>
            <p:cNvPr id="39" name="Group 39"/>
            <p:cNvGrpSpPr/>
            <p:nvPr/>
          </p:nvGrpSpPr>
          <p:grpSpPr>
            <a:xfrm>
              <a:off x="0" y="0"/>
              <a:ext cx="7105231" cy="4179151"/>
              <a:chOff x="0" y="0"/>
              <a:chExt cx="7105231" cy="4179151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7105269" cy="4179189"/>
              </a:xfrm>
              <a:custGeom>
                <a:avLst/>
                <a:gdLst/>
                <a:ahLst/>
                <a:cxnLst/>
                <a:rect l="l" t="t" r="r" b="b"/>
                <a:pathLst>
                  <a:path w="7105269" h="4179189">
                    <a:moveTo>
                      <a:pt x="0" y="295021"/>
                    </a:moveTo>
                    <a:cubicBezTo>
                      <a:pt x="0" y="132080"/>
                      <a:pt x="132080" y="0"/>
                      <a:pt x="295021" y="0"/>
                    </a:cubicBezTo>
                    <a:lnTo>
                      <a:pt x="6810248" y="0"/>
                    </a:lnTo>
                    <a:cubicBezTo>
                      <a:pt x="6973189" y="0"/>
                      <a:pt x="7105269" y="132080"/>
                      <a:pt x="7105269" y="295021"/>
                    </a:cubicBezTo>
                    <a:lnTo>
                      <a:pt x="7105269" y="3884168"/>
                    </a:lnTo>
                    <a:cubicBezTo>
                      <a:pt x="7105269" y="4047109"/>
                      <a:pt x="6973189" y="4179189"/>
                      <a:pt x="6810248" y="4179189"/>
                    </a:cubicBezTo>
                    <a:lnTo>
                      <a:pt x="295021" y="4179189"/>
                    </a:lnTo>
                    <a:cubicBezTo>
                      <a:pt x="132080" y="4179189"/>
                      <a:pt x="0" y="4047109"/>
                      <a:pt x="0" y="3884168"/>
                    </a:cubicBezTo>
                    <a:close/>
                  </a:path>
                </a:pathLst>
              </a:custGeom>
              <a:solidFill>
                <a:srgbClr val="FEE2E2"/>
              </a:solidFill>
              <a:ln w="25400" cap="sq">
                <a:solidFill>
                  <a:srgbClr val="FCA5A5"/>
                </a:solidFill>
                <a:prstDash val="solid"/>
                <a:miter/>
              </a:ln>
            </p:spPr>
          </p:sp>
        </p:grpSp>
        <p:grpSp>
          <p:nvGrpSpPr>
            <p:cNvPr id="41" name="Group 41"/>
            <p:cNvGrpSpPr/>
            <p:nvPr/>
          </p:nvGrpSpPr>
          <p:grpSpPr>
            <a:xfrm>
              <a:off x="365760" y="365760"/>
              <a:ext cx="1057999" cy="1057999"/>
              <a:chOff x="0" y="0"/>
              <a:chExt cx="1057999" cy="1057999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058037" cy="1058037"/>
              </a:xfrm>
              <a:custGeom>
                <a:avLst/>
                <a:gdLst/>
                <a:ahLst/>
                <a:cxnLst/>
                <a:rect l="l" t="t" r="r" b="b"/>
                <a:pathLst>
                  <a:path w="1058037" h="1058037">
                    <a:moveTo>
                      <a:pt x="0" y="528955"/>
                    </a:moveTo>
                    <a:cubicBezTo>
                      <a:pt x="0" y="236855"/>
                      <a:pt x="236855" y="0"/>
                      <a:pt x="528955" y="0"/>
                    </a:cubicBezTo>
                    <a:cubicBezTo>
                      <a:pt x="821055" y="0"/>
                      <a:pt x="1058037" y="236855"/>
                      <a:pt x="1058037" y="528955"/>
                    </a:cubicBezTo>
                    <a:cubicBezTo>
                      <a:pt x="1058037" y="821055"/>
                      <a:pt x="821182" y="1058037"/>
                      <a:pt x="528955" y="1058037"/>
                    </a:cubicBezTo>
                    <a:cubicBezTo>
                      <a:pt x="236728" y="1058037"/>
                      <a:pt x="0" y="821182"/>
                      <a:pt x="0" y="528955"/>
                    </a:cubicBezTo>
                    <a:close/>
                  </a:path>
                </a:pathLst>
              </a:custGeom>
              <a:solidFill>
                <a:srgbClr val="FCA5A5"/>
              </a:solidFill>
              <a:ln w="25400" cap="sq">
                <a:solidFill>
                  <a:srgbClr val="FCA5A5"/>
                </a:solidFill>
                <a:prstDash val="solid"/>
                <a:miter/>
              </a:ln>
            </p:spPr>
          </p:sp>
        </p:grpSp>
        <p:grpSp>
          <p:nvGrpSpPr>
            <p:cNvPr id="43" name="Group 43"/>
            <p:cNvGrpSpPr/>
            <p:nvPr/>
          </p:nvGrpSpPr>
          <p:grpSpPr>
            <a:xfrm>
              <a:off x="382689" y="382689"/>
              <a:ext cx="1024128" cy="1024128"/>
              <a:chOff x="0" y="0"/>
              <a:chExt cx="1024128" cy="1024128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1024128" cy="1024128"/>
              </a:xfrm>
              <a:custGeom>
                <a:avLst/>
                <a:gdLst/>
                <a:ahLst/>
                <a:cxnLst/>
                <a:rect l="l" t="t" r="r" b="b"/>
                <a:pathLst>
                  <a:path w="1024128" h="1024128">
                    <a:moveTo>
                      <a:pt x="0" y="0"/>
                    </a:moveTo>
                    <a:lnTo>
                      <a:pt x="1024128" y="0"/>
                    </a:lnTo>
                    <a:lnTo>
                      <a:pt x="1024128" y="1024128"/>
                    </a:lnTo>
                    <a:lnTo>
                      <a:pt x="0" y="102412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-78303" r="-78303"/>
                </a:stretch>
              </a:blipFill>
            </p:spPr>
          </p:sp>
          <p:sp>
            <p:nvSpPr>
              <p:cNvPr id="45" name="TextBox 45"/>
              <p:cNvSpPr txBox="1"/>
              <p:nvPr/>
            </p:nvSpPr>
            <p:spPr>
              <a:xfrm>
                <a:off x="0" y="-47625"/>
                <a:ext cx="1024128" cy="1071753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359"/>
                  </a:lnSpc>
                </a:pPr>
                <a:r>
                  <a:rPr lang="en-US" sz="2799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5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382689" y="1675041"/>
              <a:ext cx="6339840" cy="1097280"/>
              <a:chOff x="0" y="0"/>
              <a:chExt cx="6339840" cy="109728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633984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6339840" h="1097280">
                    <a:moveTo>
                      <a:pt x="0" y="0"/>
                    </a:moveTo>
                    <a:lnTo>
                      <a:pt x="6339840" y="0"/>
                    </a:lnTo>
                    <a:lnTo>
                      <a:pt x="633984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2580" b="-62580"/>
                </a:stretch>
              </a:blipFill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0" y="-47625"/>
                <a:ext cx="6339840" cy="11449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999"/>
                  </a:lnSpc>
                </a:pPr>
                <a:r>
                  <a:rPr lang="en-US" sz="2499" b="1">
                    <a:solidFill>
                      <a:srgbClr val="1A1A2E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Final Submission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382689" y="2821089"/>
              <a:ext cx="6339840" cy="975360"/>
              <a:chOff x="0" y="0"/>
              <a:chExt cx="6339840" cy="97536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6339840" cy="975360"/>
              </a:xfrm>
              <a:custGeom>
                <a:avLst/>
                <a:gdLst/>
                <a:ahLst/>
                <a:cxnLst/>
                <a:rect l="l" t="t" r="r" b="b"/>
                <a:pathLst>
                  <a:path w="6339840" h="975360">
                    <a:moveTo>
                      <a:pt x="0" y="0"/>
                    </a:moveTo>
                    <a:lnTo>
                      <a:pt x="6339840" y="0"/>
                    </a:lnTo>
                    <a:lnTo>
                      <a:pt x="6339840" y="975360"/>
                    </a:lnTo>
                    <a:lnTo>
                      <a:pt x="0" y="975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76652" b="-76652"/>
                </a:stretch>
              </a:blipFill>
            </p:spPr>
          </p:sp>
          <p:sp>
            <p:nvSpPr>
              <p:cNvPr id="51" name="TextBox 51"/>
              <p:cNvSpPr txBox="1"/>
              <p:nvPr/>
            </p:nvSpPr>
            <p:spPr>
              <a:xfrm>
                <a:off x="0" y="-47625"/>
                <a:ext cx="6339840" cy="10229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520"/>
                  </a:lnSpc>
                </a:pPr>
                <a:r>
                  <a:rPr lang="en-US" sz="2100">
                    <a:solidFill>
                      <a:srgbClr val="6B728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Point deduction per check attempt</a:t>
                </a:r>
              </a:p>
            </p:txBody>
          </p:sp>
        </p:grpSp>
      </p:grpSp>
      <p:grpSp>
        <p:nvGrpSpPr>
          <p:cNvPr id="52" name="Group 52"/>
          <p:cNvGrpSpPr/>
          <p:nvPr/>
        </p:nvGrpSpPr>
        <p:grpSpPr>
          <a:xfrm>
            <a:off x="6388098" y="2273303"/>
            <a:ext cx="5328923" cy="3134363"/>
            <a:chOff x="0" y="0"/>
            <a:chExt cx="7105231" cy="4179151"/>
          </a:xfrm>
        </p:grpSpPr>
        <p:grpSp>
          <p:nvGrpSpPr>
            <p:cNvPr id="53" name="Group 53"/>
            <p:cNvGrpSpPr/>
            <p:nvPr/>
          </p:nvGrpSpPr>
          <p:grpSpPr>
            <a:xfrm>
              <a:off x="0" y="0"/>
              <a:ext cx="7105231" cy="4179151"/>
              <a:chOff x="0" y="0"/>
              <a:chExt cx="7105231" cy="4179151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0" y="0"/>
                <a:ext cx="7105269" cy="4179189"/>
              </a:xfrm>
              <a:custGeom>
                <a:avLst/>
                <a:gdLst/>
                <a:ahLst/>
                <a:cxnLst/>
                <a:rect l="l" t="t" r="r" b="b"/>
                <a:pathLst>
                  <a:path w="7105269" h="4179189">
                    <a:moveTo>
                      <a:pt x="0" y="295021"/>
                    </a:moveTo>
                    <a:cubicBezTo>
                      <a:pt x="0" y="132080"/>
                      <a:pt x="132080" y="0"/>
                      <a:pt x="295021" y="0"/>
                    </a:cubicBezTo>
                    <a:lnTo>
                      <a:pt x="6810248" y="0"/>
                    </a:lnTo>
                    <a:cubicBezTo>
                      <a:pt x="6973189" y="0"/>
                      <a:pt x="7105269" y="132080"/>
                      <a:pt x="7105269" y="295021"/>
                    </a:cubicBezTo>
                    <a:lnTo>
                      <a:pt x="7105269" y="3884168"/>
                    </a:lnTo>
                    <a:cubicBezTo>
                      <a:pt x="7105269" y="4047109"/>
                      <a:pt x="6973189" y="4179189"/>
                      <a:pt x="6810248" y="4179189"/>
                    </a:cubicBezTo>
                    <a:lnTo>
                      <a:pt x="295021" y="4179189"/>
                    </a:lnTo>
                    <a:cubicBezTo>
                      <a:pt x="132080" y="4179189"/>
                      <a:pt x="0" y="4047109"/>
                      <a:pt x="0" y="3884168"/>
                    </a:cubicBezTo>
                    <a:close/>
                  </a:path>
                </a:pathLst>
              </a:custGeom>
              <a:solidFill>
                <a:srgbClr val="DCFCE7"/>
              </a:solidFill>
              <a:ln w="25400" cap="sq">
                <a:solidFill>
                  <a:srgbClr val="86EFAC"/>
                </a:solidFill>
                <a:prstDash val="solid"/>
                <a:miter/>
              </a:ln>
            </p:spPr>
          </p:sp>
        </p:grpSp>
        <p:grpSp>
          <p:nvGrpSpPr>
            <p:cNvPr id="55" name="Group 55"/>
            <p:cNvGrpSpPr/>
            <p:nvPr/>
          </p:nvGrpSpPr>
          <p:grpSpPr>
            <a:xfrm>
              <a:off x="365760" y="365760"/>
              <a:ext cx="1057999" cy="1057999"/>
              <a:chOff x="0" y="0"/>
              <a:chExt cx="1057999" cy="1057999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1058037" cy="1058037"/>
              </a:xfrm>
              <a:custGeom>
                <a:avLst/>
                <a:gdLst/>
                <a:ahLst/>
                <a:cxnLst/>
                <a:rect l="l" t="t" r="r" b="b"/>
                <a:pathLst>
                  <a:path w="1058037" h="1058037">
                    <a:moveTo>
                      <a:pt x="0" y="528955"/>
                    </a:moveTo>
                    <a:cubicBezTo>
                      <a:pt x="0" y="236855"/>
                      <a:pt x="236855" y="0"/>
                      <a:pt x="528955" y="0"/>
                    </a:cubicBezTo>
                    <a:cubicBezTo>
                      <a:pt x="821055" y="0"/>
                      <a:pt x="1058037" y="236855"/>
                      <a:pt x="1058037" y="528955"/>
                    </a:cubicBezTo>
                    <a:cubicBezTo>
                      <a:pt x="1058037" y="821055"/>
                      <a:pt x="821182" y="1058037"/>
                      <a:pt x="528955" y="1058037"/>
                    </a:cubicBezTo>
                    <a:cubicBezTo>
                      <a:pt x="236728" y="1058037"/>
                      <a:pt x="0" y="821182"/>
                      <a:pt x="0" y="528955"/>
                    </a:cubicBezTo>
                    <a:close/>
                  </a:path>
                </a:pathLst>
              </a:custGeom>
              <a:solidFill>
                <a:srgbClr val="86EFAC"/>
              </a:solidFill>
              <a:ln w="25400" cap="sq">
                <a:solidFill>
                  <a:srgbClr val="86EFAC"/>
                </a:solidFill>
                <a:prstDash val="solid"/>
                <a:miter/>
              </a:ln>
            </p:spPr>
          </p:sp>
        </p:grpSp>
        <p:grpSp>
          <p:nvGrpSpPr>
            <p:cNvPr id="57" name="Group 57"/>
            <p:cNvGrpSpPr/>
            <p:nvPr/>
          </p:nvGrpSpPr>
          <p:grpSpPr>
            <a:xfrm>
              <a:off x="382689" y="382689"/>
              <a:ext cx="1024128" cy="1024128"/>
              <a:chOff x="0" y="0"/>
              <a:chExt cx="1024128" cy="1024128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1024128" cy="1024128"/>
              </a:xfrm>
              <a:custGeom>
                <a:avLst/>
                <a:gdLst/>
                <a:ahLst/>
                <a:cxnLst/>
                <a:rect l="l" t="t" r="r" b="b"/>
                <a:pathLst>
                  <a:path w="1024128" h="1024128">
                    <a:moveTo>
                      <a:pt x="0" y="0"/>
                    </a:moveTo>
                    <a:lnTo>
                      <a:pt x="1024128" y="0"/>
                    </a:lnTo>
                    <a:lnTo>
                      <a:pt x="1024128" y="1024128"/>
                    </a:lnTo>
                    <a:lnTo>
                      <a:pt x="0" y="102412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-78303" r="-78303"/>
                </a:stretch>
              </a:blipFill>
            </p:spPr>
          </p:sp>
          <p:sp>
            <p:nvSpPr>
              <p:cNvPr id="59" name="TextBox 59"/>
              <p:cNvSpPr txBox="1"/>
              <p:nvPr/>
            </p:nvSpPr>
            <p:spPr>
              <a:xfrm>
                <a:off x="0" y="-47625"/>
                <a:ext cx="1024128" cy="1071753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359"/>
                  </a:lnSpc>
                </a:pPr>
                <a:r>
                  <a:rPr lang="en-US" sz="2799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2</a:t>
                </a: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382689" y="1675041"/>
              <a:ext cx="6339840" cy="1097280"/>
              <a:chOff x="0" y="0"/>
              <a:chExt cx="6339840" cy="109728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0" y="0"/>
                <a:ext cx="633984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6339840" h="1097280">
                    <a:moveTo>
                      <a:pt x="0" y="0"/>
                    </a:moveTo>
                    <a:lnTo>
                      <a:pt x="6339840" y="0"/>
                    </a:lnTo>
                    <a:lnTo>
                      <a:pt x="633984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2580" b="-62580"/>
                </a:stretch>
              </a:blipFill>
            </p:spPr>
          </p:sp>
          <p:sp>
            <p:nvSpPr>
              <p:cNvPr id="62" name="TextBox 62"/>
              <p:cNvSpPr txBox="1"/>
              <p:nvPr/>
            </p:nvSpPr>
            <p:spPr>
              <a:xfrm>
                <a:off x="0" y="-47625"/>
                <a:ext cx="6339840" cy="11449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999"/>
                  </a:lnSpc>
                </a:pPr>
                <a:r>
                  <a:rPr lang="en-US" sz="2499" b="1">
                    <a:solidFill>
                      <a:srgbClr val="1A1A2E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Local GCC Compiles</a:t>
                </a:r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382689" y="2821089"/>
              <a:ext cx="6339840" cy="975360"/>
              <a:chOff x="0" y="0"/>
              <a:chExt cx="6339840" cy="975360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0" y="0"/>
                <a:ext cx="6339840" cy="975360"/>
              </a:xfrm>
              <a:custGeom>
                <a:avLst/>
                <a:gdLst/>
                <a:ahLst/>
                <a:cxnLst/>
                <a:rect l="l" t="t" r="r" b="b"/>
                <a:pathLst>
                  <a:path w="6339840" h="975360">
                    <a:moveTo>
                      <a:pt x="0" y="0"/>
                    </a:moveTo>
                    <a:lnTo>
                      <a:pt x="6339840" y="0"/>
                    </a:lnTo>
                    <a:lnTo>
                      <a:pt x="6339840" y="975360"/>
                    </a:lnTo>
                    <a:lnTo>
                      <a:pt x="0" y="975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76652" b="-76652"/>
                </a:stretch>
              </a:blipFill>
            </p:spPr>
          </p:sp>
          <p:sp>
            <p:nvSpPr>
              <p:cNvPr id="65" name="TextBox 65"/>
              <p:cNvSpPr txBox="1"/>
              <p:nvPr/>
            </p:nvSpPr>
            <p:spPr>
              <a:xfrm>
                <a:off x="0" y="-47625"/>
                <a:ext cx="6339840" cy="10229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520"/>
                  </a:lnSpc>
                </a:pPr>
                <a:r>
                  <a:rPr lang="en-US" sz="2100">
                    <a:solidFill>
                      <a:srgbClr val="6B728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Process isolation, time limits</a:t>
                </a:r>
              </a:p>
            </p:txBody>
          </p:sp>
        </p:grpSp>
      </p:grpSp>
      <p:grpSp>
        <p:nvGrpSpPr>
          <p:cNvPr id="66" name="Group 66"/>
          <p:cNvGrpSpPr/>
          <p:nvPr/>
        </p:nvGrpSpPr>
        <p:grpSpPr>
          <a:xfrm>
            <a:off x="5924550" y="7570470"/>
            <a:ext cx="495300" cy="38100"/>
            <a:chOff x="0" y="0"/>
            <a:chExt cx="660400" cy="5080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660400" cy="50800"/>
            </a:xfrm>
            <a:custGeom>
              <a:avLst/>
              <a:gdLst/>
              <a:ahLst/>
              <a:cxnLst/>
              <a:rect l="l" t="t" r="r" b="b"/>
              <a:pathLst>
                <a:path w="660400" h="50800">
                  <a:moveTo>
                    <a:pt x="0" y="0"/>
                  </a:moveTo>
                  <a:lnTo>
                    <a:pt x="660400" y="508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t="-203305" b="-203305"/>
              </a:stretch>
            </a:blipFill>
            <a:ln w="38100" cap="sq">
              <a:solidFill>
                <a:srgbClr val="6B7280"/>
              </a:solidFill>
              <a:prstDash val="solid"/>
              <a:miter/>
            </a:ln>
          </p:spPr>
        </p:sp>
      </p:grpSp>
      <p:grpSp>
        <p:nvGrpSpPr>
          <p:cNvPr id="68" name="Group 68"/>
          <p:cNvGrpSpPr/>
          <p:nvPr/>
        </p:nvGrpSpPr>
        <p:grpSpPr>
          <a:xfrm>
            <a:off x="12145647" y="6122922"/>
            <a:ext cx="5328923" cy="3134363"/>
            <a:chOff x="0" y="0"/>
            <a:chExt cx="7105231" cy="4179151"/>
          </a:xfrm>
        </p:grpSpPr>
        <p:grpSp>
          <p:nvGrpSpPr>
            <p:cNvPr id="69" name="Group 69"/>
            <p:cNvGrpSpPr/>
            <p:nvPr/>
          </p:nvGrpSpPr>
          <p:grpSpPr>
            <a:xfrm>
              <a:off x="0" y="0"/>
              <a:ext cx="7105231" cy="4179151"/>
              <a:chOff x="0" y="0"/>
              <a:chExt cx="7105231" cy="4179151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7105269" cy="4179189"/>
              </a:xfrm>
              <a:custGeom>
                <a:avLst/>
                <a:gdLst/>
                <a:ahLst/>
                <a:cxnLst/>
                <a:rect l="l" t="t" r="r" b="b"/>
                <a:pathLst>
                  <a:path w="7105269" h="4179189">
                    <a:moveTo>
                      <a:pt x="0" y="295021"/>
                    </a:moveTo>
                    <a:cubicBezTo>
                      <a:pt x="0" y="132080"/>
                      <a:pt x="132080" y="0"/>
                      <a:pt x="295021" y="0"/>
                    </a:cubicBezTo>
                    <a:lnTo>
                      <a:pt x="6810248" y="0"/>
                    </a:lnTo>
                    <a:cubicBezTo>
                      <a:pt x="6973189" y="0"/>
                      <a:pt x="7105269" y="132080"/>
                      <a:pt x="7105269" y="295021"/>
                    </a:cubicBezTo>
                    <a:lnTo>
                      <a:pt x="7105269" y="3884168"/>
                    </a:lnTo>
                    <a:cubicBezTo>
                      <a:pt x="7105269" y="4047109"/>
                      <a:pt x="6973189" y="4179189"/>
                      <a:pt x="6810248" y="4179189"/>
                    </a:cubicBezTo>
                    <a:lnTo>
                      <a:pt x="295021" y="4179189"/>
                    </a:lnTo>
                    <a:cubicBezTo>
                      <a:pt x="132080" y="4179189"/>
                      <a:pt x="0" y="4047109"/>
                      <a:pt x="0" y="3884168"/>
                    </a:cubicBezTo>
                    <a:close/>
                  </a:path>
                </a:pathLst>
              </a:custGeom>
              <a:solidFill>
                <a:srgbClr val="F3E8FF"/>
              </a:solidFill>
              <a:ln w="25400" cap="sq">
                <a:solidFill>
                  <a:srgbClr val="D8B4FE"/>
                </a:solidFill>
                <a:prstDash val="solid"/>
                <a:miter/>
              </a:ln>
            </p:spPr>
          </p:sp>
        </p:grpSp>
        <p:grpSp>
          <p:nvGrpSpPr>
            <p:cNvPr id="71" name="Group 71"/>
            <p:cNvGrpSpPr/>
            <p:nvPr/>
          </p:nvGrpSpPr>
          <p:grpSpPr>
            <a:xfrm>
              <a:off x="365760" y="365760"/>
              <a:ext cx="1057999" cy="1057999"/>
              <a:chOff x="0" y="0"/>
              <a:chExt cx="1057999" cy="1057999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0" y="0"/>
                <a:ext cx="1058037" cy="1058037"/>
              </a:xfrm>
              <a:custGeom>
                <a:avLst/>
                <a:gdLst/>
                <a:ahLst/>
                <a:cxnLst/>
                <a:rect l="l" t="t" r="r" b="b"/>
                <a:pathLst>
                  <a:path w="1058037" h="1058037">
                    <a:moveTo>
                      <a:pt x="0" y="528955"/>
                    </a:moveTo>
                    <a:cubicBezTo>
                      <a:pt x="0" y="236855"/>
                      <a:pt x="236855" y="0"/>
                      <a:pt x="528955" y="0"/>
                    </a:cubicBezTo>
                    <a:cubicBezTo>
                      <a:pt x="821055" y="0"/>
                      <a:pt x="1058037" y="236855"/>
                      <a:pt x="1058037" y="528955"/>
                    </a:cubicBezTo>
                    <a:cubicBezTo>
                      <a:pt x="1058037" y="821055"/>
                      <a:pt x="821182" y="1058037"/>
                      <a:pt x="528955" y="1058037"/>
                    </a:cubicBezTo>
                    <a:cubicBezTo>
                      <a:pt x="236728" y="1058037"/>
                      <a:pt x="0" y="821182"/>
                      <a:pt x="0" y="528955"/>
                    </a:cubicBezTo>
                    <a:close/>
                  </a:path>
                </a:pathLst>
              </a:custGeom>
              <a:solidFill>
                <a:srgbClr val="D8B4FE"/>
              </a:solidFill>
              <a:ln w="25400" cap="sq">
                <a:solidFill>
                  <a:srgbClr val="D8B4FE"/>
                </a:solidFill>
                <a:prstDash val="solid"/>
                <a:miter/>
              </a:ln>
            </p:spPr>
          </p:sp>
        </p:grpSp>
        <p:grpSp>
          <p:nvGrpSpPr>
            <p:cNvPr id="73" name="Group 73"/>
            <p:cNvGrpSpPr/>
            <p:nvPr/>
          </p:nvGrpSpPr>
          <p:grpSpPr>
            <a:xfrm>
              <a:off x="382689" y="382689"/>
              <a:ext cx="1024128" cy="1024128"/>
              <a:chOff x="0" y="0"/>
              <a:chExt cx="1024128" cy="1024128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1024128" cy="1024128"/>
              </a:xfrm>
              <a:custGeom>
                <a:avLst/>
                <a:gdLst/>
                <a:ahLst/>
                <a:cxnLst/>
                <a:rect l="l" t="t" r="r" b="b"/>
                <a:pathLst>
                  <a:path w="1024128" h="1024128">
                    <a:moveTo>
                      <a:pt x="0" y="0"/>
                    </a:moveTo>
                    <a:lnTo>
                      <a:pt x="1024128" y="0"/>
                    </a:lnTo>
                    <a:lnTo>
                      <a:pt x="1024128" y="1024128"/>
                    </a:lnTo>
                    <a:lnTo>
                      <a:pt x="0" y="102412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-78303" r="-78303"/>
                </a:stretch>
              </a:blipFill>
            </p:spPr>
          </p:sp>
          <p:sp>
            <p:nvSpPr>
              <p:cNvPr id="75" name="TextBox 75"/>
              <p:cNvSpPr txBox="1"/>
              <p:nvPr/>
            </p:nvSpPr>
            <p:spPr>
              <a:xfrm>
                <a:off x="0" y="-47625"/>
                <a:ext cx="1024128" cy="1071753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359"/>
                  </a:lnSpc>
                </a:pPr>
                <a:r>
                  <a:rPr lang="en-US" sz="2799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4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382689" y="1675041"/>
              <a:ext cx="6339840" cy="1097280"/>
              <a:chOff x="0" y="0"/>
              <a:chExt cx="6339840" cy="1097280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633984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6339840" h="1097280">
                    <a:moveTo>
                      <a:pt x="0" y="0"/>
                    </a:moveTo>
                    <a:lnTo>
                      <a:pt x="6339840" y="0"/>
                    </a:lnTo>
                    <a:lnTo>
                      <a:pt x="633984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2580" b="-62580"/>
                </a:stretch>
              </a:blipFill>
            </p:spPr>
          </p:sp>
          <p:sp>
            <p:nvSpPr>
              <p:cNvPr id="78" name="TextBox 78"/>
              <p:cNvSpPr txBox="1"/>
              <p:nvPr/>
            </p:nvSpPr>
            <p:spPr>
              <a:xfrm>
                <a:off x="0" y="-47625"/>
                <a:ext cx="6339840" cy="11449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999"/>
                  </a:lnSpc>
                </a:pPr>
                <a:r>
                  <a:rPr lang="en-US" sz="2499" b="1">
                    <a:solidFill>
                      <a:srgbClr val="1A1A2E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Hidden Test Cases Run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382689" y="2821089"/>
              <a:ext cx="6339840" cy="975360"/>
              <a:chOff x="0" y="0"/>
              <a:chExt cx="6339840" cy="97536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6339840" cy="975360"/>
              </a:xfrm>
              <a:custGeom>
                <a:avLst/>
                <a:gdLst/>
                <a:ahLst/>
                <a:cxnLst/>
                <a:rect l="l" t="t" r="r" b="b"/>
                <a:pathLst>
                  <a:path w="6339840" h="975360">
                    <a:moveTo>
                      <a:pt x="0" y="0"/>
                    </a:moveTo>
                    <a:lnTo>
                      <a:pt x="6339840" y="0"/>
                    </a:lnTo>
                    <a:lnTo>
                      <a:pt x="6339840" y="975360"/>
                    </a:lnTo>
                    <a:lnTo>
                      <a:pt x="0" y="975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76652" b="-76652"/>
                </a:stretch>
              </a:blipFill>
            </p:spPr>
          </p:sp>
          <p:sp>
            <p:nvSpPr>
              <p:cNvPr id="81" name="TextBox 81"/>
              <p:cNvSpPr txBox="1"/>
              <p:nvPr/>
            </p:nvSpPr>
            <p:spPr>
              <a:xfrm>
                <a:off x="0" y="-47625"/>
                <a:ext cx="6339840" cy="10229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520"/>
                  </a:lnSpc>
                </a:pPr>
                <a:r>
                  <a:rPr lang="en-US" sz="2100">
                    <a:solidFill>
                      <a:srgbClr val="6B728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Teacher-defined, never visible</a:t>
                </a:r>
              </a:p>
            </p:txBody>
          </p:sp>
        </p:grpSp>
      </p:grpSp>
      <p:grpSp>
        <p:nvGrpSpPr>
          <p:cNvPr id="82" name="Group 82"/>
          <p:cNvGrpSpPr/>
          <p:nvPr/>
        </p:nvGrpSpPr>
        <p:grpSpPr>
          <a:xfrm>
            <a:off x="11685270" y="7570470"/>
            <a:ext cx="495300" cy="38100"/>
            <a:chOff x="0" y="0"/>
            <a:chExt cx="660400" cy="50800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660400" cy="50800"/>
            </a:xfrm>
            <a:custGeom>
              <a:avLst/>
              <a:gdLst/>
              <a:ahLst/>
              <a:cxnLst/>
              <a:rect l="l" t="t" r="r" b="b"/>
              <a:pathLst>
                <a:path w="660400" h="50800">
                  <a:moveTo>
                    <a:pt x="0" y="0"/>
                  </a:moveTo>
                  <a:lnTo>
                    <a:pt x="660400" y="508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t="-203305" b="-203305"/>
              </a:stretch>
            </a:blipFill>
            <a:ln w="38100" cap="sq">
              <a:solidFill>
                <a:srgbClr val="6B7280"/>
              </a:solidFill>
              <a:prstDash val="solid"/>
              <a:miter/>
            </a:ln>
          </p:spPr>
        </p:sp>
      </p:grpSp>
      <p:grpSp>
        <p:nvGrpSpPr>
          <p:cNvPr id="84" name="Group 84"/>
          <p:cNvGrpSpPr/>
          <p:nvPr/>
        </p:nvGrpSpPr>
        <p:grpSpPr>
          <a:xfrm>
            <a:off x="627378" y="6022343"/>
            <a:ext cx="5328923" cy="3134363"/>
            <a:chOff x="0" y="0"/>
            <a:chExt cx="7105231" cy="4179151"/>
          </a:xfrm>
        </p:grpSpPr>
        <p:grpSp>
          <p:nvGrpSpPr>
            <p:cNvPr id="85" name="Group 85"/>
            <p:cNvGrpSpPr/>
            <p:nvPr/>
          </p:nvGrpSpPr>
          <p:grpSpPr>
            <a:xfrm>
              <a:off x="0" y="0"/>
              <a:ext cx="7105231" cy="4179151"/>
              <a:chOff x="0" y="0"/>
              <a:chExt cx="7105231" cy="4179151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0" y="0"/>
                <a:ext cx="7105269" cy="4179189"/>
              </a:xfrm>
              <a:custGeom>
                <a:avLst/>
                <a:gdLst/>
                <a:ahLst/>
                <a:cxnLst/>
                <a:rect l="l" t="t" r="r" b="b"/>
                <a:pathLst>
                  <a:path w="7105269" h="4179189">
                    <a:moveTo>
                      <a:pt x="0" y="295021"/>
                    </a:moveTo>
                    <a:cubicBezTo>
                      <a:pt x="0" y="132080"/>
                      <a:pt x="132080" y="0"/>
                      <a:pt x="295021" y="0"/>
                    </a:cubicBezTo>
                    <a:lnTo>
                      <a:pt x="6810248" y="0"/>
                    </a:lnTo>
                    <a:cubicBezTo>
                      <a:pt x="6973189" y="0"/>
                      <a:pt x="7105269" y="132080"/>
                      <a:pt x="7105269" y="295021"/>
                    </a:cubicBezTo>
                    <a:lnTo>
                      <a:pt x="7105269" y="3884168"/>
                    </a:lnTo>
                    <a:cubicBezTo>
                      <a:pt x="7105269" y="4047109"/>
                      <a:pt x="6973189" y="4179189"/>
                      <a:pt x="6810248" y="4179189"/>
                    </a:cubicBezTo>
                    <a:lnTo>
                      <a:pt x="295021" y="4179189"/>
                    </a:lnTo>
                    <a:cubicBezTo>
                      <a:pt x="132080" y="4179189"/>
                      <a:pt x="0" y="4047109"/>
                      <a:pt x="0" y="3884168"/>
                    </a:cubicBezTo>
                    <a:close/>
                  </a:path>
                </a:pathLst>
              </a:custGeom>
              <a:solidFill>
                <a:srgbClr val="FFEDD5"/>
              </a:solidFill>
              <a:ln w="25400" cap="sq">
                <a:solidFill>
                  <a:srgbClr val="FED7AA"/>
                </a:solidFill>
                <a:prstDash val="solid"/>
                <a:miter/>
              </a:ln>
            </p:spPr>
          </p:sp>
        </p:grpSp>
        <p:grpSp>
          <p:nvGrpSpPr>
            <p:cNvPr id="87" name="Group 87"/>
            <p:cNvGrpSpPr/>
            <p:nvPr/>
          </p:nvGrpSpPr>
          <p:grpSpPr>
            <a:xfrm>
              <a:off x="365760" y="365760"/>
              <a:ext cx="1057999" cy="1057999"/>
              <a:chOff x="0" y="0"/>
              <a:chExt cx="1057999" cy="1057999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1058037" cy="1058037"/>
              </a:xfrm>
              <a:custGeom>
                <a:avLst/>
                <a:gdLst/>
                <a:ahLst/>
                <a:cxnLst/>
                <a:rect l="l" t="t" r="r" b="b"/>
                <a:pathLst>
                  <a:path w="1058037" h="1058037">
                    <a:moveTo>
                      <a:pt x="0" y="528955"/>
                    </a:moveTo>
                    <a:cubicBezTo>
                      <a:pt x="0" y="236855"/>
                      <a:pt x="236855" y="0"/>
                      <a:pt x="528955" y="0"/>
                    </a:cubicBezTo>
                    <a:cubicBezTo>
                      <a:pt x="821055" y="0"/>
                      <a:pt x="1058037" y="236855"/>
                      <a:pt x="1058037" y="528955"/>
                    </a:cubicBezTo>
                    <a:cubicBezTo>
                      <a:pt x="1058037" y="821055"/>
                      <a:pt x="821182" y="1058037"/>
                      <a:pt x="528955" y="1058037"/>
                    </a:cubicBezTo>
                    <a:cubicBezTo>
                      <a:pt x="236728" y="1058037"/>
                      <a:pt x="0" y="821182"/>
                      <a:pt x="0" y="528955"/>
                    </a:cubicBezTo>
                    <a:close/>
                  </a:path>
                </a:pathLst>
              </a:custGeom>
              <a:solidFill>
                <a:srgbClr val="FED7AA"/>
              </a:solidFill>
              <a:ln w="25400" cap="sq">
                <a:solidFill>
                  <a:srgbClr val="FED7AA"/>
                </a:solidFill>
                <a:prstDash val="solid"/>
                <a:miter/>
              </a:ln>
            </p:spPr>
          </p:sp>
        </p:grpSp>
        <p:grpSp>
          <p:nvGrpSpPr>
            <p:cNvPr id="89" name="Group 89"/>
            <p:cNvGrpSpPr/>
            <p:nvPr/>
          </p:nvGrpSpPr>
          <p:grpSpPr>
            <a:xfrm>
              <a:off x="382689" y="382689"/>
              <a:ext cx="1024128" cy="1024128"/>
              <a:chOff x="0" y="0"/>
              <a:chExt cx="1024128" cy="1024128"/>
            </a:xfrm>
          </p:grpSpPr>
          <p:sp>
            <p:nvSpPr>
              <p:cNvPr id="90" name="Freeform 90"/>
              <p:cNvSpPr/>
              <p:nvPr/>
            </p:nvSpPr>
            <p:spPr>
              <a:xfrm>
                <a:off x="0" y="0"/>
                <a:ext cx="1024128" cy="1024128"/>
              </a:xfrm>
              <a:custGeom>
                <a:avLst/>
                <a:gdLst/>
                <a:ahLst/>
                <a:cxnLst/>
                <a:rect l="l" t="t" r="r" b="b"/>
                <a:pathLst>
                  <a:path w="1024128" h="1024128">
                    <a:moveTo>
                      <a:pt x="0" y="0"/>
                    </a:moveTo>
                    <a:lnTo>
                      <a:pt x="1024128" y="0"/>
                    </a:lnTo>
                    <a:lnTo>
                      <a:pt x="1024128" y="1024128"/>
                    </a:lnTo>
                    <a:lnTo>
                      <a:pt x="0" y="102412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-78303" r="-78303"/>
                </a:stretch>
              </a:blipFill>
            </p:spPr>
          </p:sp>
          <p:sp>
            <p:nvSpPr>
              <p:cNvPr id="91" name="TextBox 91"/>
              <p:cNvSpPr txBox="1"/>
              <p:nvPr/>
            </p:nvSpPr>
            <p:spPr>
              <a:xfrm>
                <a:off x="0" y="-47625"/>
                <a:ext cx="1024128" cy="1071753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359"/>
                  </a:lnSpc>
                </a:pPr>
                <a:r>
                  <a:rPr lang="en-US" sz="2799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6</a:t>
                </a:r>
              </a:p>
            </p:txBody>
          </p:sp>
        </p:grpSp>
        <p:grpSp>
          <p:nvGrpSpPr>
            <p:cNvPr id="92" name="Group 92"/>
            <p:cNvGrpSpPr/>
            <p:nvPr/>
          </p:nvGrpSpPr>
          <p:grpSpPr>
            <a:xfrm>
              <a:off x="382689" y="1675041"/>
              <a:ext cx="6339840" cy="1097280"/>
              <a:chOff x="0" y="0"/>
              <a:chExt cx="6339840" cy="1097280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0" y="0"/>
                <a:ext cx="633984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6339840" h="1097280">
                    <a:moveTo>
                      <a:pt x="0" y="0"/>
                    </a:moveTo>
                    <a:lnTo>
                      <a:pt x="6339840" y="0"/>
                    </a:lnTo>
                    <a:lnTo>
                      <a:pt x="633984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2580" b="-62580"/>
                </a:stretch>
              </a:blipFill>
            </p:spPr>
          </p:sp>
          <p:sp>
            <p:nvSpPr>
              <p:cNvPr id="94" name="TextBox 94"/>
              <p:cNvSpPr txBox="1"/>
              <p:nvPr/>
            </p:nvSpPr>
            <p:spPr>
              <a:xfrm>
                <a:off x="0" y="-47625"/>
                <a:ext cx="6339840" cy="11449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999"/>
                  </a:lnSpc>
                </a:pPr>
                <a:r>
                  <a:rPr lang="en-US" sz="2499" b="1">
                    <a:solidFill>
                      <a:srgbClr val="1A1A2E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Score Returned</a:t>
                </a:r>
              </a:p>
            </p:txBody>
          </p:sp>
        </p:grpSp>
        <p:grpSp>
          <p:nvGrpSpPr>
            <p:cNvPr id="95" name="Group 95"/>
            <p:cNvGrpSpPr/>
            <p:nvPr/>
          </p:nvGrpSpPr>
          <p:grpSpPr>
            <a:xfrm>
              <a:off x="382689" y="2821089"/>
              <a:ext cx="6339840" cy="975360"/>
              <a:chOff x="0" y="0"/>
              <a:chExt cx="6339840" cy="975360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6339840" cy="975360"/>
              </a:xfrm>
              <a:custGeom>
                <a:avLst/>
                <a:gdLst/>
                <a:ahLst/>
                <a:cxnLst/>
                <a:rect l="l" t="t" r="r" b="b"/>
                <a:pathLst>
                  <a:path w="6339840" h="975360">
                    <a:moveTo>
                      <a:pt x="0" y="0"/>
                    </a:moveTo>
                    <a:lnTo>
                      <a:pt x="6339840" y="0"/>
                    </a:lnTo>
                    <a:lnTo>
                      <a:pt x="6339840" y="975360"/>
                    </a:lnTo>
                    <a:lnTo>
                      <a:pt x="0" y="975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76652" b="-76652"/>
                </a:stretch>
              </a:blipFill>
            </p:spPr>
          </p:sp>
          <p:sp>
            <p:nvSpPr>
              <p:cNvPr id="97" name="TextBox 97"/>
              <p:cNvSpPr txBox="1"/>
              <p:nvPr/>
            </p:nvSpPr>
            <p:spPr>
              <a:xfrm>
                <a:off x="0" y="-47625"/>
                <a:ext cx="6339840" cy="10229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520"/>
                  </a:lnSpc>
                </a:pPr>
                <a:r>
                  <a:rPr lang="en-US" sz="2100">
                    <a:solidFill>
                      <a:srgbClr val="6B728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Partial credit + attempt deductions</a:t>
                </a:r>
              </a:p>
            </p:txBody>
          </p:sp>
        </p:grpSp>
      </p:grpSp>
      <p:sp>
        <p:nvSpPr>
          <p:cNvPr id="98" name="AutoShape 98"/>
          <p:cNvSpPr/>
          <p:nvPr/>
        </p:nvSpPr>
        <p:spPr>
          <a:xfrm>
            <a:off x="5956306" y="3960114"/>
            <a:ext cx="43179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99" name="AutoShape 99"/>
          <p:cNvSpPr/>
          <p:nvPr/>
        </p:nvSpPr>
        <p:spPr>
          <a:xfrm>
            <a:off x="11717026" y="3960114"/>
            <a:ext cx="43179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00" name="AutoShape 100"/>
          <p:cNvSpPr/>
          <p:nvPr/>
        </p:nvSpPr>
        <p:spPr>
          <a:xfrm flipH="1">
            <a:off x="11717026" y="7690104"/>
            <a:ext cx="43179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01" name="AutoShape 101"/>
          <p:cNvSpPr/>
          <p:nvPr/>
        </p:nvSpPr>
        <p:spPr>
          <a:xfrm flipH="1">
            <a:off x="5956302" y="7709154"/>
            <a:ext cx="43179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02" name="AutoShape 102"/>
          <p:cNvSpPr/>
          <p:nvPr/>
        </p:nvSpPr>
        <p:spPr>
          <a:xfrm>
            <a:off x="14810108" y="5426712"/>
            <a:ext cx="0" cy="6962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421</Words>
  <Application>Microsoft Office PowerPoint</Application>
  <PresentationFormat>Custom</PresentationFormat>
  <Paragraphs>68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Calibri (MS)</vt:lpstr>
      <vt:lpstr>Calibri</vt:lpstr>
      <vt:lpstr>Calibri (MS)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50% Cont/x - PPT</dc:title>
  <cp:lastModifiedBy>Mel Perez</cp:lastModifiedBy>
  <cp:revision>2</cp:revision>
  <dcterms:created xsi:type="dcterms:W3CDTF">2006-08-16T00:00:00Z</dcterms:created>
  <dcterms:modified xsi:type="dcterms:W3CDTF">2026-07-21T04:46:04Z</dcterms:modified>
  <dc:identifier>DAHP-4qjCWM</dc:identifier>
</cp:coreProperties>
</file>