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alibri (MS) Bold" charset="1" panose="020F0702030404030204"/>
      <p:regular r:id="rId11"/>
    </p:embeddedFont>
    <p:embeddedFont>
      <p:font typeface="Calibri (MS)" charset="1" panose="020F050202020403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665483" cy="10312403"/>
            <a:chOff x="0" y="0"/>
            <a:chExt cx="887311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7349" cy="13749910"/>
            </a:xfrm>
            <a:custGeom>
              <a:avLst/>
              <a:gdLst/>
              <a:ahLst/>
              <a:cxnLst/>
              <a:rect r="r" b="b" t="t" l="l"/>
              <a:pathLst>
                <a:path h="13749910" w="887349">
                  <a:moveTo>
                    <a:pt x="0" y="0"/>
                  </a:moveTo>
                  <a:lnTo>
                    <a:pt x="887349" y="0"/>
                  </a:lnTo>
                  <a:lnTo>
                    <a:pt x="887349" y="13749910"/>
                  </a:lnTo>
                  <a:lnTo>
                    <a:pt x="0" y="13749910"/>
                  </a:lnTo>
                  <a:close/>
                </a:path>
              </a:pathLst>
            </a:custGeom>
            <a:solidFill>
              <a:srgbClr val="4A90B9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188720" y="2691433"/>
            <a:ext cx="10972800" cy="2194560"/>
            <a:chOff x="0" y="0"/>
            <a:chExt cx="14630400" cy="292608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6304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19075"/>
              <a:ext cx="14630400" cy="3145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0"/>
                </a:lnSpc>
              </a:pPr>
              <a:r>
                <a:rPr lang="en-US" sz="108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Cont/x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76023" y="4981763"/>
            <a:ext cx="9417033" cy="1828800"/>
            <a:chOff x="0" y="0"/>
            <a:chExt cx="12556044" cy="243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56044" cy="2438400"/>
            </a:xfrm>
            <a:custGeom>
              <a:avLst/>
              <a:gdLst/>
              <a:ahLst/>
              <a:cxnLst/>
              <a:rect r="r" b="b" t="t" l="l"/>
              <a:pathLst>
                <a:path h="2438400" w="12556044">
                  <a:moveTo>
                    <a:pt x="0" y="0"/>
                  </a:moveTo>
                  <a:lnTo>
                    <a:pt x="12556044" y="0"/>
                  </a:lnTo>
                  <a:lnTo>
                    <a:pt x="12556044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-45650" b="-9613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2556044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Low-Lev</a:t>
              </a:r>
              <a:r>
                <a:rPr lang="en-US" sz="3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el Keyboard-Hook Lockdown and On-Device Compiler-Based Assessment Engine for Secure Programming Exams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88720" y="7914850"/>
            <a:ext cx="10083803" cy="1488443"/>
            <a:chOff x="0" y="0"/>
            <a:chExt cx="13445071" cy="1984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445110" cy="1984629"/>
            </a:xfrm>
            <a:custGeom>
              <a:avLst/>
              <a:gdLst/>
              <a:ahLst/>
              <a:cxnLst/>
              <a:rect r="r" b="b" t="t" l="l"/>
              <a:pathLst>
                <a:path h="1984629" w="13445110">
                  <a:moveTo>
                    <a:pt x="0" y="198501"/>
                  </a:moveTo>
                  <a:cubicBezTo>
                    <a:pt x="0" y="88900"/>
                    <a:pt x="88900" y="0"/>
                    <a:pt x="198501" y="0"/>
                  </a:cubicBezTo>
                  <a:lnTo>
                    <a:pt x="13246608" y="0"/>
                  </a:lnTo>
                  <a:cubicBezTo>
                    <a:pt x="13356210" y="0"/>
                    <a:pt x="13445110" y="88900"/>
                    <a:pt x="13445110" y="198501"/>
                  </a:cubicBezTo>
                  <a:lnTo>
                    <a:pt x="13445110" y="1786128"/>
                  </a:lnTo>
                  <a:cubicBezTo>
                    <a:pt x="13445110" y="1895729"/>
                    <a:pt x="13356210" y="1984629"/>
                    <a:pt x="13246608" y="1984629"/>
                  </a:cubicBezTo>
                  <a:lnTo>
                    <a:pt x="198501" y="1984629"/>
                  </a:lnTo>
                  <a:cubicBezTo>
                    <a:pt x="88900" y="1984629"/>
                    <a:pt x="0" y="1895729"/>
                    <a:pt x="0" y="1786128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01417" y="7927547"/>
            <a:ext cx="10058400" cy="1463040"/>
            <a:chOff x="0" y="0"/>
            <a:chExt cx="13411200" cy="19507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112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3959" r="0" b="-83959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3411200" cy="19983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Aratia, Brian Joseph B.  •  Avelino, Robert Emmanuel C.  •  Perez, Mel Stephen A.</a:t>
              </a: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1433393" y="658072"/>
            <a:ext cx="6480805" cy="7256778"/>
          </a:xfrm>
          <a:custGeom>
            <a:avLst/>
            <a:gdLst/>
            <a:ahLst/>
            <a:cxnLst/>
            <a:rect r="r" b="b" t="t" l="l"/>
            <a:pathLst>
              <a:path h="7256778" w="6480805">
                <a:moveTo>
                  <a:pt x="0" y="0"/>
                </a:moveTo>
                <a:lnTo>
                  <a:pt x="6480806" y="0"/>
                </a:lnTo>
                <a:lnTo>
                  <a:pt x="6480806" y="7256778"/>
                </a:lnTo>
                <a:lnTo>
                  <a:pt x="0" y="72567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998983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2456183"/>
            <a:ext cx="8072123" cy="2951483"/>
            <a:chOff x="0" y="0"/>
            <a:chExt cx="10762831" cy="39353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10467721" y="0"/>
                  </a:lnTo>
                  <a:cubicBezTo>
                    <a:pt x="10630789" y="0"/>
                    <a:pt x="10762869" y="132080"/>
                    <a:pt x="10762869" y="295148"/>
                  </a:cubicBezTo>
                  <a:lnTo>
                    <a:pt x="10762869" y="3640201"/>
                  </a:lnTo>
                  <a:cubicBezTo>
                    <a:pt x="10762869" y="3803269"/>
                    <a:pt x="10630789" y="3935349"/>
                    <a:pt x="10467721" y="3935349"/>
                  </a:cubicBezTo>
                  <a:lnTo>
                    <a:pt x="295148" y="3935349"/>
                  </a:lnTo>
                  <a:cubicBezTo>
                    <a:pt x="132080" y="3935349"/>
                    <a:pt x="0" y="3803142"/>
                    <a:pt x="0" y="3640201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91590" y="3213624"/>
            <a:ext cx="822960" cy="822960"/>
            <a:chOff x="0" y="0"/>
            <a:chExt cx="1097280" cy="1097280"/>
          </a:xfrm>
        </p:grpSpPr>
        <p:sp>
          <p:nvSpPr>
            <p:cNvPr name="Freeform 10" id="10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286000" y="2990095"/>
            <a:ext cx="6400800" cy="1883659"/>
            <a:chOff x="0" y="0"/>
            <a:chExt cx="8534400" cy="2511546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8534400" cy="926592"/>
              <a:chOff x="0" y="0"/>
              <a:chExt cx="8534400" cy="926592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53440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29467" r="0" b="-129467"/>
                </a:stretch>
              </a:blipFill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57150"/>
                <a:ext cx="8534400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 Desktop Lockdown</a:t>
                </a: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0" y="438906"/>
              <a:ext cx="8534400" cy="2072640"/>
              <a:chOff x="0" y="0"/>
              <a:chExt cx="8534400" cy="207264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53440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47625"/>
                <a:ext cx="8534400" cy="2120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Cloud tools only restrict browsers — Alt+Tab, Task Manager, and OS-level shortcuts remain open.</a:t>
                </a:r>
              </a:p>
            </p:txBody>
          </p:sp>
        </p:grpSp>
      </p:grpSp>
      <p:grpSp>
        <p:nvGrpSpPr>
          <p:cNvPr name="Group 18" id="18"/>
          <p:cNvGrpSpPr/>
          <p:nvPr/>
        </p:nvGrpSpPr>
        <p:grpSpPr>
          <a:xfrm rot="0">
            <a:off x="9588503" y="2456183"/>
            <a:ext cx="8072123" cy="2951483"/>
            <a:chOff x="0" y="0"/>
            <a:chExt cx="10762831" cy="393531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10467721" y="0"/>
                  </a:lnTo>
                  <a:cubicBezTo>
                    <a:pt x="10630789" y="0"/>
                    <a:pt x="10762869" y="132080"/>
                    <a:pt x="10762869" y="295148"/>
                  </a:cubicBezTo>
                  <a:lnTo>
                    <a:pt x="10762869" y="3640201"/>
                  </a:lnTo>
                  <a:cubicBezTo>
                    <a:pt x="10762869" y="3803269"/>
                    <a:pt x="10630789" y="3935349"/>
                    <a:pt x="10467721" y="3935349"/>
                  </a:cubicBezTo>
                  <a:lnTo>
                    <a:pt x="295148" y="3935349"/>
                  </a:lnTo>
                  <a:cubicBezTo>
                    <a:pt x="132080" y="3935349"/>
                    <a:pt x="0" y="3803142"/>
                    <a:pt x="0" y="3640201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966960" y="3213624"/>
            <a:ext cx="822960" cy="822960"/>
            <a:chOff x="0" y="0"/>
            <a:chExt cx="1097280" cy="109728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960094" y="2860296"/>
            <a:ext cx="6402705" cy="1947672"/>
            <a:chOff x="0" y="0"/>
            <a:chExt cx="8536940" cy="2596896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8534400" cy="926592"/>
              <a:chOff x="0" y="0"/>
              <a:chExt cx="8534400" cy="92659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53440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29467" r="0" b="-129467"/>
                </a:stretch>
              </a:blip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57150"/>
                <a:ext cx="8534400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Server-Side Bottlenecks</a:t>
                </a: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2540" y="524256"/>
              <a:ext cx="8534400" cy="2072640"/>
              <a:chOff x="0" y="0"/>
              <a:chExt cx="8534400" cy="207264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53440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8534400" cy="2120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Simultaneous submissions to remote grading servers cause delays during time-limited exams.</a:t>
                </a: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901703" y="5839463"/>
            <a:ext cx="8072123" cy="2951483"/>
            <a:chOff x="0" y="0"/>
            <a:chExt cx="10762831" cy="39353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10467721" y="0"/>
                  </a:lnTo>
                  <a:cubicBezTo>
                    <a:pt x="10630789" y="0"/>
                    <a:pt x="10762869" y="132080"/>
                    <a:pt x="10762869" y="295148"/>
                  </a:cubicBezTo>
                  <a:lnTo>
                    <a:pt x="10762869" y="3640201"/>
                  </a:lnTo>
                  <a:cubicBezTo>
                    <a:pt x="10762869" y="3803269"/>
                    <a:pt x="10630789" y="3935349"/>
                    <a:pt x="10467721" y="3935349"/>
                  </a:cubicBezTo>
                  <a:lnTo>
                    <a:pt x="295148" y="3935349"/>
                  </a:lnTo>
                  <a:cubicBezTo>
                    <a:pt x="132080" y="3935349"/>
                    <a:pt x="0" y="3803142"/>
                    <a:pt x="0" y="3640201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80160" y="6684016"/>
            <a:ext cx="822960" cy="822960"/>
            <a:chOff x="0" y="0"/>
            <a:chExt cx="1097280" cy="1097280"/>
          </a:xfrm>
        </p:grpSpPr>
        <p:sp>
          <p:nvSpPr>
            <p:cNvPr name="Freeform 32" id="32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2286000" y="6373370"/>
            <a:ext cx="6400800" cy="1883659"/>
            <a:chOff x="0" y="0"/>
            <a:chExt cx="8534400" cy="2511546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8534400" cy="926592"/>
              <a:chOff x="0" y="0"/>
              <a:chExt cx="8534400" cy="926592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53440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29467" r="0" b="-129467"/>
                </a:stretch>
              </a:blip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57150"/>
                <a:ext cx="8534400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Unreliable Connectivity</a:t>
                </a:r>
              </a:p>
            </p:txBody>
          </p:sp>
        </p:grpSp>
        <p:grpSp>
          <p:nvGrpSpPr>
            <p:cNvPr name="Group 37" id="37"/>
            <p:cNvGrpSpPr/>
            <p:nvPr/>
          </p:nvGrpSpPr>
          <p:grpSpPr>
            <a:xfrm rot="0">
              <a:off x="0" y="438906"/>
              <a:ext cx="8534400" cy="2072640"/>
              <a:chOff x="0" y="0"/>
              <a:chExt cx="8534400" cy="207264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853440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47625"/>
                <a:ext cx="8534400" cy="2120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Many Philippine schools face unstable internet, making cloud-only platforms risky for live exams.</a:t>
                </a:r>
              </a:p>
            </p:txBody>
          </p:sp>
        </p:grpSp>
      </p:grpSp>
      <p:grpSp>
        <p:nvGrpSpPr>
          <p:cNvPr name="Group 40" id="40"/>
          <p:cNvGrpSpPr/>
          <p:nvPr/>
        </p:nvGrpSpPr>
        <p:grpSpPr>
          <a:xfrm rot="0">
            <a:off x="9588503" y="5839463"/>
            <a:ext cx="8072123" cy="2951483"/>
            <a:chOff x="0" y="0"/>
            <a:chExt cx="10762831" cy="39353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62869" cy="3935349"/>
            </a:xfrm>
            <a:custGeom>
              <a:avLst/>
              <a:gdLst/>
              <a:ahLst/>
              <a:cxnLst/>
              <a:rect r="r" b="b" t="t" l="l"/>
              <a:pathLst>
                <a:path h="3935349" w="10762869">
                  <a:moveTo>
                    <a:pt x="0" y="295148"/>
                  </a:moveTo>
                  <a:cubicBezTo>
                    <a:pt x="0" y="132080"/>
                    <a:pt x="132080" y="0"/>
                    <a:pt x="295148" y="0"/>
                  </a:cubicBezTo>
                  <a:lnTo>
                    <a:pt x="10467721" y="0"/>
                  </a:lnTo>
                  <a:cubicBezTo>
                    <a:pt x="10630789" y="0"/>
                    <a:pt x="10762869" y="132080"/>
                    <a:pt x="10762869" y="295148"/>
                  </a:cubicBezTo>
                  <a:lnTo>
                    <a:pt x="10762869" y="3640201"/>
                  </a:lnTo>
                  <a:cubicBezTo>
                    <a:pt x="10762869" y="3803269"/>
                    <a:pt x="10630789" y="3935349"/>
                    <a:pt x="10467721" y="3935349"/>
                  </a:cubicBezTo>
                  <a:lnTo>
                    <a:pt x="295148" y="3935349"/>
                  </a:lnTo>
                  <a:cubicBezTo>
                    <a:pt x="132080" y="3935349"/>
                    <a:pt x="0" y="3803142"/>
                    <a:pt x="0" y="3640201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9966960" y="6684016"/>
            <a:ext cx="822960" cy="822960"/>
            <a:chOff x="0" y="0"/>
            <a:chExt cx="1097280" cy="1097280"/>
          </a:xfrm>
        </p:grpSpPr>
        <p:sp>
          <p:nvSpPr>
            <p:cNvPr name="Freeform 43" id="43" descr="preencoded.png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0960094" y="6373370"/>
            <a:ext cx="6413506" cy="1883659"/>
            <a:chOff x="0" y="0"/>
            <a:chExt cx="8551342" cy="2511546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16942" y="0"/>
              <a:ext cx="8534400" cy="926592"/>
              <a:chOff x="0" y="0"/>
              <a:chExt cx="8534400" cy="926592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8534400" cy="926592"/>
              </a:xfrm>
              <a:custGeom>
                <a:avLst/>
                <a:gdLst/>
                <a:ahLst/>
                <a:cxnLst/>
                <a:rect r="r" b="b" t="t" l="l"/>
                <a:pathLst>
                  <a:path h="926592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926592"/>
                    </a:lnTo>
                    <a:lnTo>
                      <a:pt x="0" y="926592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129467" r="0" b="-129467"/>
                </a:stretch>
              </a:blipFill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57150"/>
                <a:ext cx="8534400" cy="98374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3120"/>
                  </a:lnSpc>
                </a:pPr>
                <a:r>
                  <a:rPr lang="en-US" sz="2600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No Unified Platform</a:t>
                </a: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0" y="438906"/>
              <a:ext cx="8534400" cy="2072640"/>
              <a:chOff x="0" y="0"/>
              <a:chExt cx="8534400" cy="2072640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8534400" cy="2072640"/>
              </a:xfrm>
              <a:custGeom>
                <a:avLst/>
                <a:gdLst/>
                <a:ahLst/>
                <a:cxnLst/>
                <a:rect r="r" b="b" t="t" l="l"/>
                <a:pathLst>
                  <a:path h="2072640" w="8534400">
                    <a:moveTo>
                      <a:pt x="0" y="0"/>
                    </a:moveTo>
                    <a:lnTo>
                      <a:pt x="8534400" y="0"/>
                    </a:lnTo>
                    <a:lnTo>
                      <a:pt x="8534400" y="2072640"/>
                    </a:lnTo>
                    <a:lnTo>
                      <a:pt x="0" y="207264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30232" r="0" b="-30232"/>
                </a:stretch>
              </a:blipFill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8534400" cy="212026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640"/>
                  </a:lnSpc>
                </a:pPr>
                <a:r>
                  <a:rPr lang="en-US" sz="22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 single tool combines system-level security AND automated code assessment together.</a:t>
                </a: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9144000" cy="1280160"/>
            <a:chOff x="0" y="0"/>
            <a:chExt cx="121920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178" r="0" b="-89178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21920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Proposed Solution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521440" y="548640"/>
            <a:ext cx="5852160" cy="1287093"/>
            <a:chOff x="0" y="0"/>
            <a:chExt cx="7802880" cy="17161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02880" cy="1716124"/>
            </a:xfrm>
            <a:custGeom>
              <a:avLst/>
              <a:gdLst/>
              <a:ahLst/>
              <a:cxnLst/>
              <a:rect r="r" b="b" t="t" l="l"/>
              <a:pathLst>
                <a:path h="1716124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1716124"/>
                  </a:lnTo>
                  <a:lnTo>
                    <a:pt x="0" y="17161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63" r="0" b="-3832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23825"/>
              <a:ext cx="7802880" cy="18399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7680"/>
                </a:lnSpc>
              </a:pPr>
              <a:r>
                <a:rPr lang="en-US" sz="64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Cont/x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01703" y="1962407"/>
            <a:ext cx="16484603" cy="98555"/>
            <a:chOff x="0" y="0"/>
            <a:chExt cx="21979471" cy="13140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2194560"/>
            <a:ext cx="16459200" cy="1371600"/>
            <a:chOff x="0" y="0"/>
            <a:chExt cx="21945600" cy="1828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219456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Low-Level Keyboard-Hook Lockdown and On-Device Compiler-Based Assessment Engine for </a:t>
              </a:r>
            </a:p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Secure Programming Exams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01703" y="3827783"/>
            <a:ext cx="5328923" cy="2677163"/>
            <a:chOff x="0" y="0"/>
            <a:chExt cx="7105231" cy="35695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25296" y="4389120"/>
            <a:ext cx="694944" cy="694944"/>
            <a:chOff x="0" y="0"/>
            <a:chExt cx="926592" cy="926592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103120" y="4059936"/>
            <a:ext cx="3840480" cy="694944"/>
            <a:chOff x="0" y="0"/>
            <a:chExt cx="5120640" cy="9265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System-Wide Lockdown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103120" y="4791456"/>
            <a:ext cx="3840480" cy="1463040"/>
            <a:chOff x="0" y="0"/>
            <a:chExt cx="5120640" cy="1950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Intercepts Alt+Tab, Windows key, Task Manager, copy-paste, screenshots at OS level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570983" y="3827783"/>
            <a:ext cx="5328923" cy="2677163"/>
            <a:chOff x="0" y="0"/>
            <a:chExt cx="7105231" cy="35695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6894576" y="4389120"/>
            <a:ext cx="694944" cy="694944"/>
            <a:chOff x="0" y="0"/>
            <a:chExt cx="926592" cy="926592"/>
          </a:xfrm>
        </p:grpSpPr>
        <p:sp>
          <p:nvSpPr>
            <p:cNvPr name="Freeform 26" id="2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7772400" y="4059936"/>
            <a:ext cx="3840480" cy="694944"/>
            <a:chOff x="0" y="0"/>
            <a:chExt cx="512064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Local Code Compiler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7772400" y="4791456"/>
            <a:ext cx="3840480" cy="1463040"/>
            <a:chOff x="0" y="0"/>
            <a:chExt cx="5120640" cy="19507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Compiles and executes C programs locally via GCC/MinGW — no server needed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240263" y="3827783"/>
            <a:ext cx="5328923" cy="2677163"/>
            <a:chOff x="0" y="0"/>
            <a:chExt cx="7105231" cy="35695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563856" y="4389120"/>
            <a:ext cx="694944" cy="694944"/>
            <a:chOff x="0" y="0"/>
            <a:chExt cx="926592" cy="926592"/>
          </a:xfrm>
        </p:grpSpPr>
        <p:sp>
          <p:nvSpPr>
            <p:cNvPr name="Freeform 36" id="3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3441680" y="4059936"/>
            <a:ext cx="3840480" cy="694944"/>
            <a:chOff x="0" y="0"/>
            <a:chExt cx="5120640" cy="9265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Teacher Dashboard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3441680" y="4791456"/>
            <a:ext cx="3840480" cy="1463040"/>
            <a:chOff x="0" y="0"/>
            <a:chExt cx="5120640" cy="19507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Live monitoring, violation alerts, and session control from any browser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1703" y="6753863"/>
            <a:ext cx="5328923" cy="2677163"/>
            <a:chOff x="0" y="0"/>
            <a:chExt cx="7105231" cy="356955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25296" y="7315200"/>
            <a:ext cx="694944" cy="694944"/>
            <a:chOff x="0" y="0"/>
            <a:chExt cx="926592" cy="926592"/>
          </a:xfrm>
        </p:grpSpPr>
        <p:sp>
          <p:nvSpPr>
            <p:cNvPr name="Freeform 46" id="4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103120" y="6986016"/>
            <a:ext cx="3840480" cy="694944"/>
            <a:chOff x="0" y="0"/>
            <a:chExt cx="5120640" cy="9265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Multi-Type Exam Builder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03120" y="7717536"/>
            <a:ext cx="3840480" cy="1463040"/>
            <a:chOff x="0" y="0"/>
            <a:chExt cx="5120640" cy="19507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Multiple Choice, Fill-in-the-Blank, and Coding questions in one exam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6570983" y="6753863"/>
            <a:ext cx="5328923" cy="2677163"/>
            <a:chOff x="0" y="0"/>
            <a:chExt cx="7105231" cy="356955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6894576" y="7315200"/>
            <a:ext cx="694944" cy="694944"/>
            <a:chOff x="0" y="0"/>
            <a:chExt cx="926592" cy="926592"/>
          </a:xfrm>
        </p:grpSpPr>
        <p:sp>
          <p:nvSpPr>
            <p:cNvPr name="Freeform 56" id="5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772400" y="6986016"/>
            <a:ext cx="3840480" cy="694944"/>
            <a:chOff x="0" y="0"/>
            <a:chExt cx="5120640" cy="92659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Cloud Sync &amp; Storage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7772400" y="7717536"/>
            <a:ext cx="3840480" cy="1463040"/>
            <a:chOff x="0" y="0"/>
            <a:chExt cx="5120640" cy="195072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Centralized records, submissions, and violation logs stored securely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240263" y="6753863"/>
            <a:ext cx="5328923" cy="2677163"/>
            <a:chOff x="0" y="0"/>
            <a:chExt cx="7105231" cy="3569551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105397" cy="3569716"/>
            </a:xfrm>
            <a:custGeom>
              <a:avLst/>
              <a:gdLst/>
              <a:ahLst/>
              <a:cxnLst/>
              <a:rect r="r" b="b" t="t" l="l"/>
              <a:pathLst>
                <a:path h="3569716" w="7105397">
                  <a:moveTo>
                    <a:pt x="0" y="246253"/>
                  </a:moveTo>
                  <a:cubicBezTo>
                    <a:pt x="0" y="110236"/>
                    <a:pt x="110236" y="0"/>
                    <a:pt x="246253" y="0"/>
                  </a:cubicBezTo>
                  <a:lnTo>
                    <a:pt x="6859143" y="0"/>
                  </a:lnTo>
                  <a:cubicBezTo>
                    <a:pt x="6995160" y="0"/>
                    <a:pt x="7105397" y="110236"/>
                    <a:pt x="7105397" y="246253"/>
                  </a:cubicBezTo>
                  <a:lnTo>
                    <a:pt x="7105397" y="3323463"/>
                  </a:lnTo>
                  <a:cubicBezTo>
                    <a:pt x="7105397" y="3459480"/>
                    <a:pt x="6995160" y="3569716"/>
                    <a:pt x="6859143" y="3569716"/>
                  </a:cubicBezTo>
                  <a:lnTo>
                    <a:pt x="246253" y="3569716"/>
                  </a:lnTo>
                  <a:cubicBezTo>
                    <a:pt x="110236" y="3569589"/>
                    <a:pt x="0" y="3459353"/>
                    <a:pt x="0" y="3323336"/>
                  </a:cubicBezTo>
                  <a:close/>
                </a:path>
              </a:pathLst>
            </a:custGeom>
            <a:solidFill>
              <a:srgbClr val="F8F9FA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563856" y="7315200"/>
            <a:ext cx="694944" cy="694944"/>
            <a:chOff x="0" y="0"/>
            <a:chExt cx="926592" cy="926592"/>
          </a:xfrm>
        </p:grpSpPr>
        <p:sp>
          <p:nvSpPr>
            <p:cNvPr name="Freeform 66" id="66" descr="preencoded.png"/>
            <p:cNvSpPr/>
            <p:nvPr/>
          </p:nvSpPr>
          <p:spPr>
            <a:xfrm flipH="false" flipV="false" rot="0">
              <a:off x="0" y="0"/>
              <a:ext cx="926592" cy="926592"/>
            </a:xfrm>
            <a:custGeom>
              <a:avLst/>
              <a:gdLst/>
              <a:ahLst/>
              <a:cxnLst/>
              <a:rect r="r" b="b" t="t" l="l"/>
              <a:pathLst>
                <a:path h="926592" w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3441680" y="6986016"/>
            <a:ext cx="3840480" cy="694944"/>
            <a:chOff x="0" y="0"/>
            <a:chExt cx="5120640" cy="92659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120640" cy="926592"/>
            </a:xfrm>
            <a:custGeom>
              <a:avLst/>
              <a:gdLst/>
              <a:ahLst/>
              <a:cxnLst/>
              <a:rect r="r" b="b" t="t" l="l"/>
              <a:pathLst>
                <a:path h="926592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680" r="0" b="-5768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512064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0"/>
                </a:lnSpc>
              </a:pPr>
              <a:r>
                <a:rPr lang="en-US" sz="23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Export Reports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3441680" y="7717536"/>
            <a:ext cx="3840480" cy="1463040"/>
            <a:chOff x="0" y="0"/>
            <a:chExt cx="5120640" cy="19507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120640" cy="1950720"/>
            </a:xfrm>
            <a:custGeom>
              <a:avLst/>
              <a:gdLst/>
              <a:ahLst/>
              <a:cxnLst/>
              <a:rect r="r" b="b" t="t" l="l"/>
              <a:pathLst>
                <a:path h="1950720" w="5120640">
                  <a:moveTo>
                    <a:pt x="0" y="0"/>
                  </a:moveTo>
                  <a:lnTo>
                    <a:pt x="5120640" y="0"/>
                  </a:lnTo>
                  <a:lnTo>
                    <a:pt x="512064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48" r="0" b="-114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5120640" cy="1988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CSV result sheets and incident reports generated instantly after the exam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0972800" cy="1280160"/>
            <a:chOff x="0" y="0"/>
            <a:chExt cx="146304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014" r="0" b="-11701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146304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Lockdown &amp; Security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96240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01703" y="2181863"/>
            <a:ext cx="8255003" cy="7340603"/>
            <a:chOff x="0" y="0"/>
            <a:chExt cx="11006671" cy="97874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067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11006709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0713085" y="0"/>
                  </a:lnTo>
                  <a:cubicBezTo>
                    <a:pt x="10875264" y="0"/>
                    <a:pt x="11006709" y="131445"/>
                    <a:pt x="11006709" y="293624"/>
                  </a:cubicBezTo>
                  <a:lnTo>
                    <a:pt x="11006709" y="9493885"/>
                  </a:lnTo>
                  <a:cubicBezTo>
                    <a:pt x="11006709" y="9656064"/>
                    <a:pt x="10875264" y="9787509"/>
                    <a:pt x="10713085" y="9787509"/>
                  </a:cubicBezTo>
                  <a:lnTo>
                    <a:pt x="293624" y="9787509"/>
                  </a:lnTo>
                  <a:cubicBezTo>
                    <a:pt x="131445" y="9787509"/>
                    <a:pt x="0" y="9656064"/>
                    <a:pt x="0" y="9493885"/>
                  </a:cubicBezTo>
                  <a:close/>
                </a:path>
              </a:pathLst>
            </a:custGeom>
            <a:solidFill>
              <a:srgbClr val="FEF2F2"/>
            </a:solidFill>
            <a:ln w="25400" cap="sq">
              <a:solidFill>
                <a:srgbClr val="FCA5A5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280160" y="2468880"/>
            <a:ext cx="7498080" cy="731520"/>
            <a:chOff x="0" y="0"/>
            <a:chExt cx="9997440" cy="97536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99974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DC262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Intercepted &amp; Blocked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371600" y="3474720"/>
            <a:ext cx="7315200" cy="694944"/>
            <a:chOff x="0" y="0"/>
            <a:chExt cx="9753600" cy="9265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Alt+Tab and all app-switching shortcuts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4261104"/>
            <a:ext cx="7315200" cy="694944"/>
            <a:chOff x="0" y="0"/>
            <a:chExt cx="9753600" cy="92659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Windows key and Start menu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5047488"/>
            <a:ext cx="7315200" cy="694944"/>
            <a:chOff x="0" y="0"/>
            <a:chExt cx="9753600" cy="92659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Task Manager (Ctrl+Shift+Esc, Ctrl+Alt+Del)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5833872"/>
            <a:ext cx="7315200" cy="694944"/>
            <a:chOff x="0" y="0"/>
            <a:chExt cx="9753600" cy="92659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Copy-paste (Ctrl+C / Ctrl+V / Ctrl+X)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71600" y="6620256"/>
            <a:ext cx="7315200" cy="694944"/>
            <a:chOff x="0" y="0"/>
            <a:chExt cx="9753600" cy="92659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Screenshot tools (PrintScreen, Win+Shift+S)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1600" y="7406640"/>
            <a:ext cx="7315200" cy="694944"/>
            <a:chOff x="0" y="0"/>
            <a:chExt cx="9753600" cy="9265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Disallowed applications (process monitoring)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1600" y="8193024"/>
            <a:ext cx="7315200" cy="694944"/>
            <a:chOff x="0" y="0"/>
            <a:chExt cx="9753600" cy="9265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753600" cy="926592"/>
            </a:xfrm>
            <a:custGeom>
              <a:avLst/>
              <a:gdLst/>
              <a:ahLst/>
              <a:cxnLst/>
              <a:rect r="r" b="b" t="t" l="l"/>
              <a:pathLst>
                <a:path h="92659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105" r="0" b="-15510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47625"/>
              <a:ext cx="9753600" cy="9742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54990" indent="-277495" lvl="1">
                <a:lnSpc>
                  <a:spcPts val="2760"/>
                </a:lnSpc>
                <a:buFont typeface="Arial"/>
                <a:buChar char="•"/>
              </a:pPr>
              <a:r>
                <a:rPr lang="en-US" sz="23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System audio (muted on launch)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97063" y="2181863"/>
            <a:ext cx="8255003" cy="7340603"/>
            <a:chOff x="0" y="0"/>
            <a:chExt cx="11006671" cy="97874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006709" cy="9787509"/>
            </a:xfrm>
            <a:custGeom>
              <a:avLst/>
              <a:gdLst/>
              <a:ahLst/>
              <a:cxnLst/>
              <a:rect r="r" b="b" t="t" l="l"/>
              <a:pathLst>
                <a:path h="9787509" w="11006709">
                  <a:moveTo>
                    <a:pt x="0" y="293624"/>
                  </a:moveTo>
                  <a:cubicBezTo>
                    <a:pt x="0" y="131445"/>
                    <a:pt x="131445" y="0"/>
                    <a:pt x="293624" y="0"/>
                  </a:cubicBezTo>
                  <a:lnTo>
                    <a:pt x="10713085" y="0"/>
                  </a:lnTo>
                  <a:cubicBezTo>
                    <a:pt x="10875264" y="0"/>
                    <a:pt x="11006709" y="131445"/>
                    <a:pt x="11006709" y="293624"/>
                  </a:cubicBezTo>
                  <a:lnTo>
                    <a:pt x="11006709" y="9493885"/>
                  </a:lnTo>
                  <a:cubicBezTo>
                    <a:pt x="11006709" y="9656064"/>
                    <a:pt x="10875264" y="9787509"/>
                    <a:pt x="10713085" y="9787509"/>
                  </a:cubicBezTo>
                  <a:lnTo>
                    <a:pt x="293624" y="9787509"/>
                  </a:lnTo>
                  <a:cubicBezTo>
                    <a:pt x="131445" y="9787509"/>
                    <a:pt x="0" y="9656064"/>
                    <a:pt x="0" y="9493885"/>
                  </a:cubicBezTo>
                  <a:close/>
                </a:path>
              </a:pathLst>
            </a:custGeom>
            <a:solidFill>
              <a:srgbClr val="EFF6FF"/>
            </a:solidFill>
            <a:ln w="25400" cap="sq">
              <a:solidFill>
                <a:srgbClr val="BFDBFE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875520" y="2468880"/>
            <a:ext cx="7498080" cy="731520"/>
            <a:chOff x="0" y="0"/>
            <a:chExt cx="9997440" cy="975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975360"/>
            </a:xfrm>
            <a:custGeom>
              <a:avLst/>
              <a:gdLst/>
              <a:ahLst/>
              <a:cxnLst/>
              <a:rect r="r" b="b" t="t" l="l"/>
              <a:pathLst>
                <a:path h="97536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9721" r="0" b="-14972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999744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563E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How It Works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771383" y="3425447"/>
            <a:ext cx="610619" cy="610619"/>
            <a:chOff x="0" y="0"/>
            <a:chExt cx="814159" cy="81415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784080" y="3438144"/>
            <a:ext cx="585216" cy="585216"/>
            <a:chOff x="0" y="0"/>
            <a:chExt cx="780288" cy="78028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515600" y="3438144"/>
            <a:ext cx="6858000" cy="822960"/>
            <a:chOff x="0" y="0"/>
            <a:chExt cx="914400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When student starts their exam</a:t>
              </a: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session → lockdown activates simultaneously on their machines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771383" y="4412999"/>
            <a:ext cx="610619" cy="610619"/>
            <a:chOff x="0" y="0"/>
            <a:chExt cx="814159" cy="81415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9784080" y="4425696"/>
            <a:ext cx="585216" cy="585216"/>
            <a:chOff x="0" y="0"/>
            <a:chExt cx="780288" cy="78028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515600" y="4425696"/>
            <a:ext cx="6858000" cy="822960"/>
            <a:chOff x="0" y="0"/>
            <a:chExt cx="9144000" cy="109728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SetWindowsHookEx (WH_KEYBOARD_LL) intercepts OS-level keyboard input in Ring 3 userspace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71383" y="5400551"/>
            <a:ext cx="610619" cy="610619"/>
            <a:chOff x="0" y="0"/>
            <a:chExt cx="814159" cy="81415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784080" y="5413248"/>
            <a:ext cx="585216" cy="585216"/>
            <a:chOff x="0" y="0"/>
            <a:chExt cx="780288" cy="78028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515600" y="5413248"/>
            <a:ext cx="6858000" cy="822960"/>
            <a:chOff x="0" y="0"/>
            <a:chExt cx="9144000" cy="10972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Fullscreen always-on-top kiosk window captures focus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771383" y="6388103"/>
            <a:ext cx="610619" cy="610619"/>
            <a:chOff x="0" y="0"/>
            <a:chExt cx="814159" cy="81415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9784080" y="6400800"/>
            <a:ext cx="585216" cy="585216"/>
            <a:chOff x="0" y="0"/>
            <a:chExt cx="780288" cy="78028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515600" y="6400800"/>
            <a:ext cx="6858000" cy="822960"/>
            <a:chOff x="0" y="0"/>
            <a:chExt cx="914400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Active process monitoring flags disallowed apps instantly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771383" y="7375655"/>
            <a:ext cx="610619" cy="610619"/>
            <a:chOff x="0" y="0"/>
            <a:chExt cx="814159" cy="814159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784080" y="7388352"/>
            <a:ext cx="585216" cy="585216"/>
            <a:chOff x="0" y="0"/>
            <a:chExt cx="780288" cy="7802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515600" y="7388352"/>
            <a:ext cx="6858000" cy="822960"/>
            <a:chOff x="0" y="0"/>
            <a:chExt cx="9144000" cy="10972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Bypass attempts silently logged with timestamps on teacher dashboard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771383" y="8363207"/>
            <a:ext cx="610619" cy="610619"/>
            <a:chOff x="0" y="0"/>
            <a:chExt cx="814159" cy="814159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814197" cy="814197"/>
            </a:xfrm>
            <a:custGeom>
              <a:avLst/>
              <a:gdLst/>
              <a:ahLst/>
              <a:cxnLst/>
              <a:rect r="r" b="b" t="t" l="l"/>
              <a:pathLst>
                <a:path h="814197" w="814197">
                  <a:moveTo>
                    <a:pt x="0" y="407035"/>
                  </a:moveTo>
                  <a:cubicBezTo>
                    <a:pt x="0" y="182245"/>
                    <a:pt x="182245" y="0"/>
                    <a:pt x="407035" y="0"/>
                  </a:cubicBezTo>
                  <a:cubicBezTo>
                    <a:pt x="631825" y="0"/>
                    <a:pt x="814197" y="182245"/>
                    <a:pt x="814197" y="407035"/>
                  </a:cubicBezTo>
                  <a:cubicBezTo>
                    <a:pt x="814197" y="631825"/>
                    <a:pt x="631952" y="814197"/>
                    <a:pt x="407035" y="814197"/>
                  </a:cubicBezTo>
                  <a:cubicBezTo>
                    <a:pt x="182118" y="814197"/>
                    <a:pt x="0" y="631952"/>
                    <a:pt x="0" y="407035"/>
                  </a:cubicBezTo>
                  <a:close/>
                </a:path>
              </a:pathLst>
            </a:custGeom>
            <a:solidFill>
              <a:srgbClr val="2563EB"/>
            </a:solidFill>
            <a:ln w="2540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784080" y="8375904"/>
            <a:ext cx="585216" cy="585216"/>
            <a:chOff x="0" y="0"/>
            <a:chExt cx="780288" cy="78028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80288" cy="780288"/>
            </a:xfrm>
            <a:custGeom>
              <a:avLst/>
              <a:gdLst/>
              <a:ahLst/>
              <a:cxnLst/>
              <a:rect r="r" b="b" t="t" l="l"/>
              <a:pathLst>
                <a:path h="780288" w="780288">
                  <a:moveTo>
                    <a:pt x="0" y="0"/>
                  </a:moveTo>
                  <a:lnTo>
                    <a:pt x="780288" y="0"/>
                  </a:lnTo>
                  <a:lnTo>
                    <a:pt x="780288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780288" cy="8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0515600" y="8375904"/>
            <a:ext cx="6858000" cy="822960"/>
            <a:chOff x="0" y="0"/>
            <a:chExt cx="9144000" cy="1097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1440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91440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A1A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Lockdown released only when the student logs out of the Desktop Application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280160"/>
            <a:chOff x="0" y="0"/>
            <a:chExt cx="2194560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23825"/>
              <a:ext cx="21945600" cy="1830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680"/>
                </a:lnSpc>
              </a:pPr>
              <a:r>
                <a:rPr lang="en-US" sz="6400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Assessment Engine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1962407"/>
            <a:ext cx="16484603" cy="98555"/>
            <a:chOff x="0" y="0"/>
            <a:chExt cx="21979471" cy="13140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79510" cy="131445"/>
            </a:xfrm>
            <a:custGeom>
              <a:avLst/>
              <a:gdLst/>
              <a:ahLst/>
              <a:cxnLst/>
              <a:rect r="r" b="b" t="t" l="l"/>
              <a:pathLst>
                <a:path h="131445" w="21979510">
                  <a:moveTo>
                    <a:pt x="0" y="0"/>
                  </a:moveTo>
                  <a:lnTo>
                    <a:pt x="21979510" y="0"/>
                  </a:lnTo>
                  <a:lnTo>
                    <a:pt x="21979510" y="131445"/>
                  </a:lnTo>
                  <a:lnTo>
                    <a:pt x="0" y="131445"/>
                  </a:lnTo>
                  <a:close/>
                </a:path>
              </a:pathLst>
            </a:custGeom>
            <a:solidFill>
              <a:srgbClr val="E5E7EB"/>
            </a:solidFill>
            <a:ln w="25400" cap="sq">
              <a:solidFill>
                <a:srgbClr val="E5E7EB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627383" y="2273303"/>
            <a:ext cx="5328923" cy="3134363"/>
            <a:chOff x="0" y="0"/>
            <a:chExt cx="7105231" cy="41791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105269" cy="4179189"/>
            </a:xfrm>
            <a:custGeom>
              <a:avLst/>
              <a:gdLst/>
              <a:ahLst/>
              <a:cxnLst/>
              <a:rect r="r" b="b" t="t" l="l"/>
              <a:pathLst>
                <a:path h="4179189" w="7105269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810248" y="0"/>
                  </a:lnTo>
                  <a:cubicBezTo>
                    <a:pt x="6973189" y="0"/>
                    <a:pt x="7105269" y="132080"/>
                    <a:pt x="7105269" y="295021"/>
                  </a:cubicBezTo>
                  <a:lnTo>
                    <a:pt x="7105269" y="3884168"/>
                  </a:lnTo>
                  <a:cubicBezTo>
                    <a:pt x="7105269" y="4047109"/>
                    <a:pt x="6973189" y="4179189"/>
                    <a:pt x="681024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DBEAFE"/>
            </a:solidFill>
            <a:ln w="25400" cap="sq">
              <a:solidFill>
                <a:srgbClr val="93C5FD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901703" y="2547623"/>
            <a:ext cx="793499" cy="793499"/>
            <a:chOff x="0" y="0"/>
            <a:chExt cx="1057999" cy="105799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93C5FD"/>
            </a:solidFill>
            <a:ln w="25400" cap="sq">
              <a:solidFill>
                <a:srgbClr val="93C5FD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560320"/>
            <a:ext cx="768096" cy="768096"/>
            <a:chOff x="0" y="0"/>
            <a:chExt cx="1024128" cy="102412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024128" cy="107175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3529584"/>
            <a:ext cx="4754880" cy="822960"/>
            <a:chOff x="0" y="0"/>
            <a:chExt cx="6339840" cy="10972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3984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580" r="0" b="-6258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633984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999"/>
                </a:lnSpc>
              </a:pPr>
              <a:r>
                <a:rPr lang="en-US" sz="2499" b="true">
                  <a:solidFill>
                    <a:srgbClr val="1A1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Student Writes Code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4389120"/>
            <a:ext cx="4754880" cy="731520"/>
            <a:chOff x="0" y="0"/>
            <a:chExt cx="633984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339840" cy="975360"/>
            </a:xfrm>
            <a:custGeom>
              <a:avLst/>
              <a:gdLst/>
              <a:ahLst/>
              <a:cxnLst/>
              <a:rect r="r" b="b" t="t" l="l"/>
              <a:pathLst>
                <a:path h="9753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652" r="0" b="-7665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633984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Monaco Editor (VS Code engine)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24550" y="3821430"/>
            <a:ext cx="495300" cy="38100"/>
            <a:chOff x="0" y="0"/>
            <a:chExt cx="660400" cy="50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04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">
                  <a:moveTo>
                    <a:pt x="0" y="0"/>
                  </a:moveTo>
                  <a:lnTo>
                    <a:pt x="6604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  <a:ln w="381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2145647" y="2292348"/>
            <a:ext cx="5328923" cy="3134363"/>
            <a:chOff x="0" y="0"/>
            <a:chExt cx="7105231" cy="4179151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FEF9C3"/>
              </a:solidFill>
              <a:ln w="25400" cap="sq">
                <a:solidFill>
                  <a:srgbClr val="FDE047"/>
                </a:solidFill>
                <a:prstDash val="solid"/>
                <a:miter/>
              </a:ln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FDE047"/>
              </a:solidFill>
              <a:ln w="25400" cap="sq">
                <a:solidFill>
                  <a:srgbClr val="FDE047"/>
                </a:solidFill>
                <a:prstDash val="solid"/>
                <a:miter/>
              </a:ln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3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Checks Against Samples</a:t>
                </a: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Visible test cases before submit</a:t>
                </a:r>
              </a:p>
            </p:txBody>
          </p:sp>
        </p:grpSp>
      </p:grpSp>
      <p:grpSp>
        <p:nvGrpSpPr>
          <p:cNvPr name="Group 36" id="36"/>
          <p:cNvGrpSpPr/>
          <p:nvPr/>
        </p:nvGrpSpPr>
        <p:grpSpPr>
          <a:xfrm rot="0">
            <a:off x="11685270" y="3821430"/>
            <a:ext cx="495300" cy="38100"/>
            <a:chOff x="0" y="0"/>
            <a:chExt cx="660400" cy="50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604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">
                  <a:moveTo>
                    <a:pt x="0" y="0"/>
                  </a:moveTo>
                  <a:lnTo>
                    <a:pt x="6604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  <a:ln w="381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6419850" y="6122922"/>
            <a:ext cx="5328923" cy="3134363"/>
            <a:chOff x="0" y="0"/>
            <a:chExt cx="7105231" cy="4179151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FEE2E2"/>
              </a:solidFill>
              <a:ln w="25400" cap="sq">
                <a:solidFill>
                  <a:srgbClr val="FCA5A5"/>
                </a:solidFill>
                <a:prstDash val="solid"/>
                <a:miter/>
              </a:ln>
            </p:spPr>
          </p:sp>
        </p:grpSp>
        <p:grpSp>
          <p:nvGrpSpPr>
            <p:cNvPr name="Group 41" id="41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FCA5A5"/>
              </a:solidFill>
              <a:ln w="25400" cap="sq">
                <a:solidFill>
                  <a:srgbClr val="FCA5A5"/>
                </a:solidFill>
                <a:prstDash val="solid"/>
                <a:miter/>
              </a:ln>
            </p:spPr>
          </p:sp>
        </p:grpSp>
        <p:grpSp>
          <p:nvGrpSpPr>
            <p:cNvPr name="Group 43" id="43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5</a:t>
                </a:r>
              </a:p>
            </p:txBody>
          </p:sp>
        </p:grpSp>
        <p:grpSp>
          <p:nvGrpSpPr>
            <p:cNvPr name="Group 46" id="46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Final Submission</a:t>
                </a:r>
              </a:p>
            </p:txBody>
          </p:sp>
        </p:grpSp>
        <p:grpSp>
          <p:nvGrpSpPr>
            <p:cNvPr name="Group 49" id="49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Point deduction per check attempt</a:t>
                </a:r>
              </a:p>
            </p:txBody>
          </p:sp>
        </p:grpSp>
      </p:grpSp>
      <p:grpSp>
        <p:nvGrpSpPr>
          <p:cNvPr name="Group 52" id="52"/>
          <p:cNvGrpSpPr/>
          <p:nvPr/>
        </p:nvGrpSpPr>
        <p:grpSpPr>
          <a:xfrm rot="0">
            <a:off x="6388098" y="2273303"/>
            <a:ext cx="5328923" cy="3134363"/>
            <a:chOff x="0" y="0"/>
            <a:chExt cx="7105231" cy="4179151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DCFCE7"/>
              </a:solidFill>
              <a:ln w="25400" cap="sq">
                <a:solidFill>
                  <a:srgbClr val="86EFAC"/>
                </a:solidFill>
                <a:prstDash val="solid"/>
                <a:miter/>
              </a:ln>
            </p:spPr>
          </p:sp>
        </p:grpSp>
        <p:grpSp>
          <p:nvGrpSpPr>
            <p:cNvPr name="Group 55" id="55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86EFAC"/>
              </a:solidFill>
              <a:ln w="25400" cap="sq">
                <a:solidFill>
                  <a:srgbClr val="86EFAC"/>
                </a:solidFill>
                <a:prstDash val="solid"/>
                <a:miter/>
              </a:ln>
            </p:spPr>
          </p:sp>
        </p:grpSp>
        <p:grpSp>
          <p:nvGrpSpPr>
            <p:cNvPr name="Group 57" id="57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58" id="58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59" id="59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2</a:t>
                </a:r>
              </a:p>
            </p:txBody>
          </p:sp>
        </p:grpSp>
        <p:grpSp>
          <p:nvGrpSpPr>
            <p:cNvPr name="Group 60" id="60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Local GCC Compiles</a:t>
                </a:r>
              </a:p>
            </p:txBody>
          </p:sp>
        </p:grpSp>
        <p:grpSp>
          <p:nvGrpSpPr>
            <p:cNvPr name="Group 63" id="63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Process isolation, time limits</a:t>
                </a:r>
              </a:p>
            </p:txBody>
          </p:sp>
        </p:grpSp>
      </p:grpSp>
      <p:grpSp>
        <p:nvGrpSpPr>
          <p:cNvPr name="Group 66" id="66"/>
          <p:cNvGrpSpPr/>
          <p:nvPr/>
        </p:nvGrpSpPr>
        <p:grpSpPr>
          <a:xfrm rot="0">
            <a:off x="5924550" y="7570470"/>
            <a:ext cx="495300" cy="38100"/>
            <a:chOff x="0" y="0"/>
            <a:chExt cx="660400" cy="508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604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">
                  <a:moveTo>
                    <a:pt x="0" y="0"/>
                  </a:moveTo>
                  <a:lnTo>
                    <a:pt x="6604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  <a:ln w="381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2145647" y="6122922"/>
            <a:ext cx="5328923" cy="3134363"/>
            <a:chOff x="0" y="0"/>
            <a:chExt cx="7105231" cy="4179151"/>
          </a:xfrm>
        </p:grpSpPr>
        <p:grpSp>
          <p:nvGrpSpPr>
            <p:cNvPr name="Group 69" id="69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F3E8FF"/>
              </a:solidFill>
              <a:ln w="25400" cap="sq">
                <a:solidFill>
                  <a:srgbClr val="D8B4FE"/>
                </a:solidFill>
                <a:prstDash val="solid"/>
                <a:miter/>
              </a:ln>
            </p:spPr>
          </p:sp>
        </p:grpSp>
        <p:grpSp>
          <p:nvGrpSpPr>
            <p:cNvPr name="Group 71" id="71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72" id="72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D8B4FE"/>
              </a:solidFill>
              <a:ln w="25400" cap="sq">
                <a:solidFill>
                  <a:srgbClr val="D8B4FE"/>
                </a:solidFill>
                <a:prstDash val="solid"/>
                <a:miter/>
              </a:ln>
            </p:spPr>
          </p:sp>
        </p:grpSp>
        <p:grpSp>
          <p:nvGrpSpPr>
            <p:cNvPr name="Group 73" id="73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75" id="75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4</a:t>
                </a:r>
              </a:p>
            </p:txBody>
          </p:sp>
        </p:grpSp>
        <p:grpSp>
          <p:nvGrpSpPr>
            <p:cNvPr name="Group 76" id="76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Hidden Test Cases Run</a:t>
                </a:r>
              </a:p>
            </p:txBody>
          </p:sp>
        </p:grpSp>
        <p:grpSp>
          <p:nvGrpSpPr>
            <p:cNvPr name="Group 79" id="79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Teacher-defined, never visible</a:t>
                </a:r>
              </a:p>
            </p:txBody>
          </p:sp>
        </p:grpSp>
      </p:grpSp>
      <p:grpSp>
        <p:nvGrpSpPr>
          <p:cNvPr name="Group 82" id="82"/>
          <p:cNvGrpSpPr/>
          <p:nvPr/>
        </p:nvGrpSpPr>
        <p:grpSpPr>
          <a:xfrm rot="0">
            <a:off x="11685270" y="7570470"/>
            <a:ext cx="495300" cy="38100"/>
            <a:chOff x="0" y="0"/>
            <a:chExt cx="660400" cy="508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60400" cy="50800"/>
            </a:xfrm>
            <a:custGeom>
              <a:avLst/>
              <a:gdLst/>
              <a:ahLst/>
              <a:cxnLst/>
              <a:rect r="r" b="b" t="t" l="l"/>
              <a:pathLst>
                <a:path h="50800" w="660400">
                  <a:moveTo>
                    <a:pt x="0" y="0"/>
                  </a:moveTo>
                  <a:lnTo>
                    <a:pt x="660400" y="50800"/>
                  </a:lnTo>
                </a:path>
              </a:pathLst>
            </a:custGeom>
            <a:blipFill>
              <a:blip r:embed="rId2">
                <a:alphaModFix amt="0"/>
              </a:blip>
              <a:stretch>
                <a:fillRect l="0" t="-203305" r="0" b="-203305"/>
              </a:stretch>
            </a:blipFill>
            <a:ln w="38100" cap="sq">
              <a:solidFill>
                <a:srgbClr val="6B7280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627378" y="6022343"/>
            <a:ext cx="5328923" cy="3134363"/>
            <a:chOff x="0" y="0"/>
            <a:chExt cx="7105231" cy="4179151"/>
          </a:xfrm>
        </p:grpSpPr>
        <p:grpSp>
          <p:nvGrpSpPr>
            <p:cNvPr name="Group 85" id="85"/>
            <p:cNvGrpSpPr/>
            <p:nvPr/>
          </p:nvGrpSpPr>
          <p:grpSpPr>
            <a:xfrm rot="0">
              <a:off x="0" y="0"/>
              <a:ext cx="7105231" cy="4179151"/>
              <a:chOff x="0" y="0"/>
              <a:chExt cx="7105231" cy="4179151"/>
            </a:xfrm>
          </p:grpSpPr>
          <p:sp>
            <p:nvSpPr>
              <p:cNvPr name="Freeform 86" id="86"/>
              <p:cNvSpPr/>
              <p:nvPr/>
            </p:nvSpPr>
            <p:spPr>
              <a:xfrm flipH="false" flipV="false" rot="0">
                <a:off x="0" y="0"/>
                <a:ext cx="7105269" cy="4179189"/>
              </a:xfrm>
              <a:custGeom>
                <a:avLst/>
                <a:gdLst/>
                <a:ahLst/>
                <a:cxnLst/>
                <a:rect r="r" b="b" t="t" l="l"/>
                <a:pathLst>
                  <a:path h="4179189" w="7105269">
                    <a:moveTo>
                      <a:pt x="0" y="295021"/>
                    </a:moveTo>
                    <a:cubicBezTo>
                      <a:pt x="0" y="132080"/>
                      <a:pt x="132080" y="0"/>
                      <a:pt x="295021" y="0"/>
                    </a:cubicBezTo>
                    <a:lnTo>
                      <a:pt x="6810248" y="0"/>
                    </a:lnTo>
                    <a:cubicBezTo>
                      <a:pt x="6973189" y="0"/>
                      <a:pt x="7105269" y="132080"/>
                      <a:pt x="7105269" y="295021"/>
                    </a:cubicBezTo>
                    <a:lnTo>
                      <a:pt x="7105269" y="3884168"/>
                    </a:lnTo>
                    <a:cubicBezTo>
                      <a:pt x="7105269" y="4047109"/>
                      <a:pt x="6973189" y="4179189"/>
                      <a:pt x="6810248" y="4179189"/>
                    </a:cubicBezTo>
                    <a:lnTo>
                      <a:pt x="295021" y="4179189"/>
                    </a:lnTo>
                    <a:cubicBezTo>
                      <a:pt x="132080" y="4179189"/>
                      <a:pt x="0" y="4047109"/>
                      <a:pt x="0" y="3884168"/>
                    </a:cubicBezTo>
                    <a:close/>
                  </a:path>
                </a:pathLst>
              </a:custGeom>
              <a:solidFill>
                <a:srgbClr val="FFEDD5"/>
              </a:solidFill>
              <a:ln w="25400" cap="sq">
                <a:solidFill>
                  <a:srgbClr val="FED7AA"/>
                </a:solidFill>
                <a:prstDash val="solid"/>
                <a:miter/>
              </a:ln>
            </p:spPr>
          </p:sp>
        </p:grpSp>
        <p:grpSp>
          <p:nvGrpSpPr>
            <p:cNvPr name="Group 87" id="87"/>
            <p:cNvGrpSpPr/>
            <p:nvPr/>
          </p:nvGrpSpPr>
          <p:grpSpPr>
            <a:xfrm rot="0">
              <a:off x="365760" y="365760"/>
              <a:ext cx="1057999" cy="1057999"/>
              <a:chOff x="0" y="0"/>
              <a:chExt cx="1057999" cy="1057999"/>
            </a:xfrm>
          </p:grpSpPr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1058037" cy="1058037"/>
              </a:xfrm>
              <a:custGeom>
                <a:avLst/>
                <a:gdLst/>
                <a:ahLst/>
                <a:cxnLst/>
                <a:rect r="r" b="b" t="t" l="l"/>
                <a:pathLst>
                  <a:path h="1058037" w="1058037">
                    <a:moveTo>
                      <a:pt x="0" y="528955"/>
                    </a:moveTo>
                    <a:cubicBezTo>
                      <a:pt x="0" y="236855"/>
                      <a:pt x="236855" y="0"/>
                      <a:pt x="528955" y="0"/>
                    </a:cubicBezTo>
                    <a:cubicBezTo>
                      <a:pt x="821055" y="0"/>
                      <a:pt x="1058037" y="236855"/>
                      <a:pt x="1058037" y="528955"/>
                    </a:cubicBezTo>
                    <a:cubicBezTo>
                      <a:pt x="1058037" y="821055"/>
                      <a:pt x="821182" y="1058037"/>
                      <a:pt x="528955" y="1058037"/>
                    </a:cubicBezTo>
                    <a:cubicBezTo>
                      <a:pt x="236728" y="1058037"/>
                      <a:pt x="0" y="821182"/>
                      <a:pt x="0" y="528955"/>
                    </a:cubicBezTo>
                    <a:close/>
                  </a:path>
                </a:pathLst>
              </a:custGeom>
              <a:solidFill>
                <a:srgbClr val="FED7AA"/>
              </a:solidFill>
              <a:ln w="25400" cap="sq">
                <a:solidFill>
                  <a:srgbClr val="FED7AA"/>
                </a:solidFill>
                <a:prstDash val="solid"/>
                <a:miter/>
              </a:ln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382689" y="382689"/>
              <a:ext cx="1024128" cy="1024128"/>
              <a:chOff x="0" y="0"/>
              <a:chExt cx="1024128" cy="1024128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0" y="0"/>
                <a:ext cx="1024128" cy="1024128"/>
              </a:xfrm>
              <a:custGeom>
                <a:avLst/>
                <a:gdLst/>
                <a:ahLst/>
                <a:cxnLst/>
                <a:rect r="r" b="b" t="t" l="l"/>
                <a:pathLst>
                  <a:path h="1024128" w="1024128">
                    <a:moveTo>
                      <a:pt x="0" y="0"/>
                    </a:moveTo>
                    <a:lnTo>
                      <a:pt x="1024128" y="0"/>
                    </a:lnTo>
                    <a:lnTo>
                      <a:pt x="1024128" y="1024128"/>
                    </a:lnTo>
                    <a:lnTo>
                      <a:pt x="0" y="1024128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-78303" t="0" r="-78303" b="0"/>
                </a:stretch>
              </a:blipFill>
            </p:spPr>
          </p:sp>
          <p:sp>
            <p:nvSpPr>
              <p:cNvPr name="TextBox 91" id="91"/>
              <p:cNvSpPr txBox="true"/>
              <p:nvPr/>
            </p:nvSpPr>
            <p:spPr>
              <a:xfrm>
                <a:off x="0" y="-47625"/>
                <a:ext cx="1024128" cy="1071753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3359"/>
                  </a:lnSpc>
                </a:pPr>
                <a:r>
                  <a:rPr lang="en-US" sz="2799" b="true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6</a:t>
                </a:r>
              </a:p>
            </p:txBody>
          </p:sp>
        </p:grpSp>
        <p:grpSp>
          <p:nvGrpSpPr>
            <p:cNvPr name="Group 92" id="92"/>
            <p:cNvGrpSpPr/>
            <p:nvPr/>
          </p:nvGrpSpPr>
          <p:grpSpPr>
            <a:xfrm rot="0">
              <a:off x="382689" y="1675041"/>
              <a:ext cx="6339840" cy="1097280"/>
              <a:chOff x="0" y="0"/>
              <a:chExt cx="6339840" cy="1097280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6339840" cy="1097280"/>
              </a:xfrm>
              <a:custGeom>
                <a:avLst/>
                <a:gdLst/>
                <a:ahLst/>
                <a:cxnLst/>
                <a:rect r="r" b="b" t="t" l="l"/>
                <a:pathLst>
                  <a:path h="109728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1097280"/>
                    </a:lnTo>
                    <a:lnTo>
                      <a:pt x="0" y="109728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62580" r="0" b="-62580"/>
                </a:stretch>
              </a:blip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47625"/>
                <a:ext cx="6339840" cy="114490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999"/>
                  </a:lnSpc>
                </a:pPr>
                <a:r>
                  <a:rPr lang="en-US" sz="2499" b="true">
                    <a:solidFill>
                      <a:srgbClr val="1A1A2E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Score Returned</a:t>
                </a: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382689" y="2821089"/>
              <a:ext cx="6339840" cy="975360"/>
              <a:chOff x="0" y="0"/>
              <a:chExt cx="6339840" cy="975360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6339840" cy="975360"/>
              </a:xfrm>
              <a:custGeom>
                <a:avLst/>
                <a:gdLst/>
                <a:ahLst/>
                <a:cxnLst/>
                <a:rect r="r" b="b" t="t" l="l"/>
                <a:pathLst>
                  <a:path h="975360" w="6339840">
                    <a:moveTo>
                      <a:pt x="0" y="0"/>
                    </a:moveTo>
                    <a:lnTo>
                      <a:pt x="6339840" y="0"/>
                    </a:lnTo>
                    <a:lnTo>
                      <a:pt x="6339840" y="975360"/>
                    </a:lnTo>
                    <a:lnTo>
                      <a:pt x="0" y="975360"/>
                    </a:lnTo>
                    <a:close/>
                  </a:path>
                </a:pathLst>
              </a:custGeom>
              <a:blipFill>
                <a:blip r:embed="rId2">
                  <a:alphaModFix amt="0"/>
                </a:blip>
                <a:stretch>
                  <a:fillRect l="0" t="-76652" r="0" b="-76652"/>
                </a:stretch>
              </a:blipFill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47625"/>
                <a:ext cx="6339840" cy="1022985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520"/>
                  </a:lnSpc>
                </a:pPr>
                <a:r>
                  <a:rPr lang="en-US" sz="2100">
                    <a:solidFill>
                      <a:srgbClr val="6B7280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Partial credit + attempt deductions</a:t>
                </a:r>
              </a:p>
            </p:txBody>
          </p:sp>
        </p:grpSp>
      </p:grpSp>
      <p:sp>
        <p:nvSpPr>
          <p:cNvPr name="AutoShape 98" id="98"/>
          <p:cNvSpPr/>
          <p:nvPr/>
        </p:nvSpPr>
        <p:spPr>
          <a:xfrm>
            <a:off x="5956306" y="3960114"/>
            <a:ext cx="431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99" id="99"/>
          <p:cNvSpPr/>
          <p:nvPr/>
        </p:nvSpPr>
        <p:spPr>
          <a:xfrm>
            <a:off x="11717026" y="3960114"/>
            <a:ext cx="431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0" id="100"/>
          <p:cNvSpPr/>
          <p:nvPr/>
        </p:nvSpPr>
        <p:spPr>
          <a:xfrm flipH="true">
            <a:off x="11717026" y="7690104"/>
            <a:ext cx="431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1" id="101"/>
          <p:cNvSpPr/>
          <p:nvPr/>
        </p:nvSpPr>
        <p:spPr>
          <a:xfrm flipH="true">
            <a:off x="5956302" y="7709154"/>
            <a:ext cx="431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02" id="102"/>
          <p:cNvSpPr/>
          <p:nvPr/>
        </p:nvSpPr>
        <p:spPr>
          <a:xfrm>
            <a:off x="14810108" y="5426712"/>
            <a:ext cx="0" cy="6962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DAHP-4qjCWM</dc:identifier>
  <dcterms:modified xsi:type="dcterms:W3CDTF">2011-08-01T06:04:30Z</dcterms:modified>
  <cp:revision>1</cp:revision>
  <dc:title>50% Cont/x - PPT</dc:title>
</cp:coreProperties>
</file>